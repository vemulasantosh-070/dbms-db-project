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</p:sldIdLst>
  <p:sldSz cx="18288000" cy="10287000"/>
  <p:notesSz cx="6858000" cy="9144000"/>
  <p:embeddedFontLst>
    <p:embeddedFont>
      <p:font typeface="IBM Plex Mono" charset="1" panose="020B0509050203000203"/>
      <p:regular r:id="rId19"/>
    </p:embeddedFont>
    <p:embeddedFont>
      <p:font typeface="Sinar Grotesk Bold" charset="1" panose="00000000000000000000"/>
      <p:regular r:id="rId20"/>
    </p:embeddedFont>
    <p:embeddedFont>
      <p:font typeface="IBM Plex Sans" charset="1" panose="020B0503050203000203"/>
      <p:regular r:id="rId21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21" Target="fonts/font21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4.png" Type="http://schemas.openxmlformats.org/officeDocument/2006/relationships/image"/><Relationship Id="rId6" Target="../media/image5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png" Type="http://schemas.openxmlformats.org/officeDocument/2006/relationships/image"/><Relationship Id="rId3" Target="../media/image7.svg" Type="http://schemas.openxmlformats.org/officeDocument/2006/relationships/image"/><Relationship Id="rId4" Target="../media/image8.png" Type="http://schemas.openxmlformats.org/officeDocument/2006/relationships/image"/><Relationship Id="rId5" Target="../media/image9.svg" Type="http://schemas.openxmlformats.org/officeDocument/2006/relationships/image"/><Relationship Id="rId6" Target="../media/image1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0.png" Type="http://schemas.openxmlformats.org/officeDocument/2006/relationships/image"/><Relationship Id="rId3" Target="../media/image11.svg" Type="http://schemas.openxmlformats.org/officeDocument/2006/relationships/image"/><Relationship Id="rId4" Target="../media/image12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png" Type="http://schemas.openxmlformats.org/officeDocument/2006/relationships/image"/><Relationship Id="rId3" Target="../media/image7.svg" Type="http://schemas.openxmlformats.org/officeDocument/2006/relationships/image"/><Relationship Id="rId4" Target="../media/image13.png" Type="http://schemas.openxmlformats.org/officeDocument/2006/relationships/image"/><Relationship Id="rId5" Target="../media/image14.svg" Type="http://schemas.openxmlformats.org/officeDocument/2006/relationships/image"/><Relationship Id="rId6" Target="../media/image15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0.png" Type="http://schemas.openxmlformats.org/officeDocument/2006/relationships/image"/><Relationship Id="rId3" Target="../media/image11.svg" Type="http://schemas.openxmlformats.org/officeDocument/2006/relationships/image"/><Relationship Id="rId4" Target="../media/image1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png" Type="http://schemas.openxmlformats.org/officeDocument/2006/relationships/image"/><Relationship Id="rId3" Target="../media/image7.svg" Type="http://schemas.openxmlformats.org/officeDocument/2006/relationships/image"/><Relationship Id="rId4" Target="../media/image16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png" Type="http://schemas.openxmlformats.org/officeDocument/2006/relationships/image"/><Relationship Id="rId3" Target="../media/image7.svg" Type="http://schemas.openxmlformats.org/officeDocument/2006/relationships/image"/><Relationship Id="rId4" Target="../media/image15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.png" Type="http://schemas.openxmlformats.org/officeDocument/2006/relationships/image"/><Relationship Id="rId2" Target="../media/image10.png" Type="http://schemas.openxmlformats.org/officeDocument/2006/relationships/image"/><Relationship Id="rId3" Target="../media/image11.svg" Type="http://schemas.openxmlformats.org/officeDocument/2006/relationships/image"/><Relationship Id="rId4" Target="../media/image17.png" Type="http://schemas.openxmlformats.org/officeDocument/2006/relationships/image"/><Relationship Id="rId5" Target="../media/image18.svg" Type="http://schemas.openxmlformats.org/officeDocument/2006/relationships/image"/><Relationship Id="rId6" Target="../media/image19.png" Type="http://schemas.openxmlformats.org/officeDocument/2006/relationships/image"/><Relationship Id="rId7" Target="../media/image20.svg" Type="http://schemas.openxmlformats.org/officeDocument/2006/relationships/image"/><Relationship Id="rId8" Target="../media/image21.png" Type="http://schemas.openxmlformats.org/officeDocument/2006/relationships/image"/><Relationship Id="rId9" Target="../media/image22.sv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0.png" Type="http://schemas.openxmlformats.org/officeDocument/2006/relationships/image"/><Relationship Id="rId3" Target="../media/image11.svg" Type="http://schemas.openxmlformats.org/officeDocument/2006/relationships/image"/><Relationship Id="rId4" Target="../media/image23.png" Type="http://schemas.openxmlformats.org/officeDocument/2006/relationships/image"/><Relationship Id="rId5" Target="../media/image24.svg" Type="http://schemas.openxmlformats.org/officeDocument/2006/relationships/image"/><Relationship Id="rId6" Target="../media/image25.png" Type="http://schemas.openxmlformats.org/officeDocument/2006/relationships/image"/><Relationship Id="rId7" Target="../media/image26.svg" Type="http://schemas.openxmlformats.org/officeDocument/2006/relationships/image"/><Relationship Id="rId8" Target="../media/image1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0.png" Type="http://schemas.openxmlformats.org/officeDocument/2006/relationships/image"/><Relationship Id="rId3" Target="../media/image11.svg" Type="http://schemas.openxmlformats.org/officeDocument/2006/relationships/image"/><Relationship Id="rId4" Target="../media/image27.png" Type="http://schemas.openxmlformats.org/officeDocument/2006/relationships/image"/><Relationship Id="rId5" Target="../media/image28.svg" Type="http://schemas.openxmlformats.org/officeDocument/2006/relationships/image"/><Relationship Id="rId6" Target="../media/image29.png" Type="http://schemas.openxmlformats.org/officeDocument/2006/relationships/image"/><Relationship Id="rId7" Target="../media/image30.svg" Type="http://schemas.openxmlformats.org/officeDocument/2006/relationships/image"/><Relationship Id="rId8" Target="../media/image1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png" Type="http://schemas.openxmlformats.org/officeDocument/2006/relationships/image"/><Relationship Id="rId3" Target="../media/image7.svg" Type="http://schemas.openxmlformats.org/officeDocument/2006/relationships/image"/><Relationship Id="rId4" Target="../media/image31.png" Type="http://schemas.openxmlformats.org/officeDocument/2006/relationships/image"/><Relationship Id="rId5" Target="../media/image32.svg" Type="http://schemas.openxmlformats.org/officeDocument/2006/relationships/image"/><Relationship Id="rId6" Target="../media/image33.png" Type="http://schemas.openxmlformats.org/officeDocument/2006/relationships/image"/><Relationship Id="rId7" Target="../media/image34.svg" Type="http://schemas.openxmlformats.org/officeDocument/2006/relationships/image"/><Relationship Id="rId8" Target="../media/image1.pn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png" Type="http://schemas.openxmlformats.org/officeDocument/2006/relationships/image"/><Relationship Id="rId3" Target="../media/image7.svg" Type="http://schemas.openxmlformats.org/officeDocument/2006/relationships/image"/><Relationship Id="rId4" Target="../media/image1.png" Type="http://schemas.openxmlformats.org/officeDocument/2006/relationships/image"/><Relationship Id="rId5" Target="../media/image35.png" Type="http://schemas.openxmlformats.org/officeDocument/2006/relationships/image"/><Relationship Id="rId6" Target="../media/image36.png" Type="http://schemas.openxmlformats.org/officeDocument/2006/relationships/image"/><Relationship Id="rId7" Target="../media/image37.pn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png" Type="http://schemas.openxmlformats.org/officeDocument/2006/relationships/image"/><Relationship Id="rId3" Target="../media/image7.svg" Type="http://schemas.openxmlformats.org/officeDocument/2006/relationships/image"/><Relationship Id="rId4" Target="../media/image38.png" Type="http://schemas.openxmlformats.org/officeDocument/2006/relationships/image"/><Relationship Id="rId5" Target="../media/image39.svg" Type="http://schemas.openxmlformats.org/officeDocument/2006/relationships/image"/><Relationship Id="rId6" Target="../media/image40.png" Type="http://schemas.openxmlformats.org/officeDocument/2006/relationships/image"/><Relationship Id="rId7" Target="../media/image41.svg" Type="http://schemas.openxmlformats.org/officeDocument/2006/relationships/image"/><Relationship Id="rId8" Target="../media/image1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819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4917165" y="-28575"/>
            <a:ext cx="3370835" cy="2880369"/>
            <a:chOff x="0" y="0"/>
            <a:chExt cx="24384000" cy="2083606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20836060"/>
            </a:xfrm>
            <a:custGeom>
              <a:avLst/>
              <a:gdLst/>
              <a:ahLst/>
              <a:cxnLst/>
              <a:rect r="r" b="b" t="t" l="l"/>
              <a:pathLst>
                <a:path h="2083606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20836060"/>
                  </a:lnTo>
                  <a:lnTo>
                    <a:pt x="0" y="2083606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8513" r="0" b="-8513"/>
              </a:stretch>
            </a:blipFill>
          </p:spPr>
        </p:sp>
      </p:grpSp>
      <p:sp>
        <p:nvSpPr>
          <p:cNvPr name="Freeform 4" id="4"/>
          <p:cNvSpPr/>
          <p:nvPr/>
        </p:nvSpPr>
        <p:spPr>
          <a:xfrm flipH="false" flipV="false" rot="0">
            <a:off x="0" y="-28575"/>
            <a:ext cx="171450" cy="10315575"/>
          </a:xfrm>
          <a:custGeom>
            <a:avLst/>
            <a:gdLst/>
            <a:ahLst/>
            <a:cxnLst/>
            <a:rect r="r" b="b" t="t" l="l"/>
            <a:pathLst>
              <a:path h="10315575" w="171450">
                <a:moveTo>
                  <a:pt x="0" y="0"/>
                </a:moveTo>
                <a:lnTo>
                  <a:pt x="171450" y="0"/>
                </a:lnTo>
                <a:lnTo>
                  <a:pt x="171450" y="10315575"/>
                </a:lnTo>
                <a:lnTo>
                  <a:pt x="0" y="1031557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085850" y="4562475"/>
            <a:ext cx="1143000" cy="76200"/>
          </a:xfrm>
          <a:custGeom>
            <a:avLst/>
            <a:gdLst/>
            <a:ahLst/>
            <a:cxnLst/>
            <a:rect r="r" b="b" t="t" l="l"/>
            <a:pathLst>
              <a:path h="76200" w="1143000">
                <a:moveTo>
                  <a:pt x="0" y="0"/>
                </a:moveTo>
                <a:lnTo>
                  <a:pt x="1143000" y="0"/>
                </a:lnTo>
                <a:lnTo>
                  <a:pt x="1143000" y="76200"/>
                </a:lnTo>
                <a:lnTo>
                  <a:pt x="0" y="7620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1047750" y="1047750"/>
            <a:ext cx="7239000" cy="2657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62"/>
              </a:lnSpc>
            </a:pPr>
            <a:r>
              <a:rPr lang="en-US" sz="1650" spc="165">
                <a:solidFill>
                  <a:srgbClr val="20D6C7"/>
                </a:solidFill>
                <a:latin typeface="IBM Plex Mono"/>
                <a:ea typeface="IBM Plex Mono"/>
                <a:cs typeface="IBM Plex Mono"/>
                <a:sym typeface="IBM Plex Mono"/>
              </a:rPr>
              <a:t>DATABASE MANAGEMENT SYSTEM PROJECT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047750" y="2533650"/>
            <a:ext cx="10953750" cy="19309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956"/>
              </a:lnSpc>
            </a:pPr>
            <a:r>
              <a:rPr lang="en-US" b="true" sz="7800" spc="-273">
                <a:solidFill>
                  <a:srgbClr val="FFFFFF"/>
                </a:solidFill>
                <a:latin typeface="Sinar Grotesk Bold"/>
                <a:ea typeface="Sinar Grotesk Bold"/>
                <a:cs typeface="Sinar Grotesk Bold"/>
                <a:sym typeface="Sinar Grotesk Bold"/>
              </a:rPr>
              <a:t>Library Management</a:t>
            </a:r>
          </a:p>
          <a:p>
            <a:pPr algn="l">
              <a:lnSpc>
                <a:spcPts val="7956"/>
              </a:lnSpc>
            </a:pPr>
            <a:r>
              <a:rPr lang="en-US" b="true" sz="7800" spc="-273">
                <a:solidFill>
                  <a:srgbClr val="FFFFFF"/>
                </a:solidFill>
                <a:latin typeface="Sinar Grotesk Bold"/>
                <a:ea typeface="Sinar Grotesk Bold"/>
                <a:cs typeface="Sinar Grotesk Bold"/>
                <a:sym typeface="Sinar Grotesk Bold"/>
              </a:rPr>
              <a:t>with RFID Integration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762000" y="5100637"/>
            <a:ext cx="7524750" cy="22726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629"/>
              </a:lnSpc>
            </a:pPr>
            <a:r>
              <a:rPr lang="en-US" sz="2748">
                <a:solidFill>
                  <a:srgbClr val="DCE8E5"/>
                </a:solidFill>
                <a:latin typeface="IBM Plex Sans"/>
                <a:ea typeface="IBM Plex Sans"/>
                <a:cs typeface="IBM Plex Sans"/>
                <a:sym typeface="IBM Plex Sans"/>
              </a:rPr>
              <a:t>BATCH:20</a:t>
            </a:r>
          </a:p>
          <a:p>
            <a:pPr algn="just">
              <a:lnSpc>
                <a:spcPts val="3629"/>
              </a:lnSpc>
            </a:pPr>
            <a:r>
              <a:rPr lang="en-US" sz="2748">
                <a:solidFill>
                  <a:srgbClr val="DCE8E5"/>
                </a:solidFill>
                <a:latin typeface="IBM Plex Sans"/>
                <a:ea typeface="IBM Plex Sans"/>
                <a:cs typeface="IBM Plex Sans"/>
                <a:sym typeface="IBM Plex Sans"/>
              </a:rPr>
              <a:t> TEAM MEMBERS:</a:t>
            </a:r>
          </a:p>
          <a:p>
            <a:pPr algn="just">
              <a:lnSpc>
                <a:spcPts val="3629"/>
              </a:lnSpc>
            </a:pPr>
            <a:r>
              <a:rPr lang="en-US" sz="2748">
                <a:solidFill>
                  <a:srgbClr val="DCE8E5"/>
                </a:solidFill>
                <a:latin typeface="IBM Plex Sans"/>
                <a:ea typeface="IBM Plex Sans"/>
                <a:cs typeface="IBM Plex Sans"/>
                <a:sym typeface="IBM Plex Sans"/>
              </a:rPr>
              <a:t>C.V.JASWANTH REDDY - 2520080025</a:t>
            </a:r>
          </a:p>
          <a:p>
            <a:pPr algn="just">
              <a:lnSpc>
                <a:spcPts val="3629"/>
              </a:lnSpc>
            </a:pPr>
            <a:r>
              <a:rPr lang="en-US" sz="2748">
                <a:solidFill>
                  <a:srgbClr val="DCE8E5"/>
                </a:solidFill>
                <a:latin typeface="IBM Plex Sans"/>
                <a:ea typeface="IBM Plex Sans"/>
                <a:cs typeface="IBM Plex Sans"/>
                <a:sym typeface="IBM Plex Sans"/>
              </a:rPr>
              <a:t>B.SIDDHARTHA - 2500090225</a:t>
            </a:r>
          </a:p>
          <a:p>
            <a:pPr algn="just">
              <a:lnSpc>
                <a:spcPts val="3629"/>
              </a:lnSpc>
            </a:pPr>
            <a:r>
              <a:rPr lang="en-US" sz="2748">
                <a:solidFill>
                  <a:srgbClr val="DCE8E5"/>
                </a:solidFill>
                <a:latin typeface="IBM Plex Sans"/>
                <a:ea typeface="IBM Plex Sans"/>
                <a:cs typeface="IBM Plex Sans"/>
                <a:sym typeface="IBM Plex Sans"/>
              </a:rPr>
              <a:t>SANTOSH- 2520090051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623594" y="7940040"/>
            <a:ext cx="2667119" cy="6976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202"/>
              </a:lnSpc>
              <a:spcBef>
                <a:spcPct val="0"/>
              </a:spcBef>
            </a:pPr>
            <a:r>
              <a:rPr lang="en-US" b="true" sz="5100" spc="-178">
                <a:solidFill>
                  <a:srgbClr val="FFFFFF"/>
                </a:solidFill>
                <a:latin typeface="Sinar Grotesk Bold"/>
                <a:ea typeface="Sinar Grotesk Bold"/>
                <a:cs typeface="Sinar Grotesk Bold"/>
                <a:sym typeface="Sinar Grotesk Bold"/>
              </a:rPr>
              <a:t>Review-2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3F0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914400" y="497681"/>
            <a:ext cx="857250" cy="2909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50"/>
              </a:lnSpc>
            </a:pPr>
            <a:r>
              <a:rPr lang="en-US" sz="1800">
                <a:solidFill>
                  <a:srgbClr val="20D6C7"/>
                </a:solidFill>
                <a:latin typeface="IBM Plex Mono"/>
                <a:ea typeface="IBM Plex Mono"/>
                <a:cs typeface="IBM Plex Mono"/>
                <a:sym typeface="IBM Plex Mono"/>
              </a:rPr>
              <a:t>02</a:t>
            </a:r>
          </a:p>
        </p:txBody>
      </p:sp>
      <p:sp>
        <p:nvSpPr>
          <p:cNvPr name="Freeform 3" id="3"/>
          <p:cNvSpPr/>
          <p:nvPr/>
        </p:nvSpPr>
        <p:spPr>
          <a:xfrm flipH="false" flipV="false" rot="0">
            <a:off x="914400" y="771525"/>
            <a:ext cx="16459200" cy="47625"/>
          </a:xfrm>
          <a:custGeom>
            <a:avLst/>
            <a:gdLst/>
            <a:ahLst/>
            <a:cxnLst/>
            <a:rect r="r" b="b" t="t" l="l"/>
            <a:pathLst>
              <a:path h="47625" w="16459200">
                <a:moveTo>
                  <a:pt x="0" y="0"/>
                </a:moveTo>
                <a:lnTo>
                  <a:pt x="16459200" y="0"/>
                </a:lnTo>
                <a:lnTo>
                  <a:pt x="16459200" y="47625"/>
                </a:lnTo>
                <a:lnTo>
                  <a:pt x="0" y="4762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1430000" y="2543175"/>
            <a:ext cx="5143500" cy="5838825"/>
          </a:xfrm>
          <a:custGeom>
            <a:avLst/>
            <a:gdLst/>
            <a:ahLst/>
            <a:cxnLst/>
            <a:rect r="r" b="b" t="t" l="l"/>
            <a:pathLst>
              <a:path h="5838825" w="5143500">
                <a:moveTo>
                  <a:pt x="0" y="0"/>
                </a:moveTo>
                <a:lnTo>
                  <a:pt x="5143500" y="0"/>
                </a:lnTo>
                <a:lnTo>
                  <a:pt x="5143500" y="5838825"/>
                </a:lnTo>
                <a:lnTo>
                  <a:pt x="0" y="583882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5" id="5"/>
          <p:cNvSpPr/>
          <p:nvPr/>
        </p:nvSpPr>
        <p:spPr>
          <a:xfrm rot="18000">
            <a:off x="12182446" y="4610100"/>
            <a:ext cx="3638598" cy="0"/>
          </a:xfrm>
          <a:prstGeom prst="line">
            <a:avLst/>
          </a:prstGeom>
          <a:ln cap="rnd" w="19050">
            <a:solidFill>
              <a:srgbClr val="F3F0E8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6" id="6"/>
          <p:cNvSpPr/>
          <p:nvPr/>
        </p:nvSpPr>
        <p:spPr>
          <a:xfrm rot="18000">
            <a:off x="12182446" y="6515100"/>
            <a:ext cx="3638598" cy="0"/>
          </a:xfrm>
          <a:prstGeom prst="line">
            <a:avLst/>
          </a:prstGeom>
          <a:ln cap="rnd" w="19050">
            <a:solidFill>
              <a:srgbClr val="F3F0E8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7" id="7"/>
          <p:cNvSpPr/>
          <p:nvPr/>
        </p:nvSpPr>
        <p:spPr>
          <a:xfrm flipH="false" flipV="false" rot="0">
            <a:off x="16202280" y="-28320"/>
            <a:ext cx="2114039" cy="2114039"/>
          </a:xfrm>
          <a:custGeom>
            <a:avLst/>
            <a:gdLst/>
            <a:ahLst/>
            <a:cxnLst/>
            <a:rect r="r" b="b" t="t" l="l"/>
            <a:pathLst>
              <a:path h="2114039" w="2114039">
                <a:moveTo>
                  <a:pt x="0" y="0"/>
                </a:moveTo>
                <a:lnTo>
                  <a:pt x="2114040" y="0"/>
                </a:lnTo>
                <a:lnTo>
                  <a:pt x="2114040" y="2114040"/>
                </a:lnTo>
                <a:lnTo>
                  <a:pt x="0" y="2114040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914400" y="1162050"/>
            <a:ext cx="13525500" cy="6404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202"/>
              </a:lnSpc>
            </a:pPr>
            <a:r>
              <a:rPr lang="en-US" b="true" sz="5100" spc="-178">
                <a:solidFill>
                  <a:srgbClr val="10252E"/>
                </a:solidFill>
                <a:latin typeface="Sinar Grotesk Bold"/>
                <a:ea typeface="Sinar Grotesk Bold"/>
                <a:cs typeface="Sinar Grotesk Bold"/>
                <a:sym typeface="Sinar Grotesk Bold"/>
              </a:rPr>
              <a:t>Introduction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914400" y="9734550"/>
            <a:ext cx="6667500" cy="2200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87"/>
              </a:lnSpc>
            </a:pPr>
            <a:r>
              <a:rPr lang="en-US" sz="1350" spc="108">
                <a:solidFill>
                  <a:srgbClr val="61747A"/>
                </a:solidFill>
                <a:latin typeface="IBM Plex Mono"/>
                <a:ea typeface="IBM Plex Mono"/>
                <a:cs typeface="IBM Plex Mono"/>
                <a:sym typeface="IBM Plex Mono"/>
              </a:rPr>
              <a:t>RFID × DBMS  /  LIBRARY MANAGEMENT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699089" y="2078736"/>
            <a:ext cx="9239250" cy="54284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66"/>
              </a:lnSpc>
            </a:pPr>
          </a:p>
          <a:p>
            <a:pPr algn="l" marL="550545" indent="-275272" lvl="1">
              <a:lnSpc>
                <a:spcPts val="3366"/>
              </a:lnSpc>
              <a:buFont typeface="Arial"/>
              <a:buChar char="•"/>
            </a:pPr>
            <a:r>
              <a:rPr lang="en-US" sz="2550">
                <a:solidFill>
                  <a:srgbClr val="10252E"/>
                </a:solidFill>
                <a:latin typeface="IBM Plex Sans"/>
                <a:ea typeface="IBM Plex Sans"/>
                <a:cs typeface="IBM Plex Sans"/>
                <a:sym typeface="IBM Plex Sans"/>
              </a:rPr>
              <a:t>Library Management System with RFID Integration is a web-based system designed to automate and simplify traditional library operations.</a:t>
            </a:r>
          </a:p>
          <a:p>
            <a:pPr algn="l" marL="550545" indent="-275272" lvl="1">
              <a:lnSpc>
                <a:spcPts val="3366"/>
              </a:lnSpc>
              <a:buFont typeface="Arial"/>
              <a:buChar char="•"/>
            </a:pPr>
            <a:r>
              <a:rPr lang="en-US" sz="2550">
                <a:solidFill>
                  <a:srgbClr val="10252E"/>
                </a:solidFill>
                <a:latin typeface="IBM Plex Sans"/>
                <a:ea typeface="IBM Plex Sans"/>
                <a:cs typeface="IBM Plex Sans"/>
                <a:sym typeface="IBM Plex Sans"/>
              </a:rPr>
              <a:t>The system uses RFID technology to identify books and automate book issue and return processes.</a:t>
            </a:r>
          </a:p>
          <a:p>
            <a:pPr algn="l" marL="550545" indent="-275272" lvl="1">
              <a:lnSpc>
                <a:spcPts val="3366"/>
              </a:lnSpc>
              <a:buFont typeface="Arial"/>
              <a:buChar char="•"/>
            </a:pPr>
            <a:r>
              <a:rPr lang="en-US" sz="2550">
                <a:solidFill>
                  <a:srgbClr val="10252E"/>
                </a:solidFill>
                <a:latin typeface="IBM Plex Sans"/>
                <a:ea typeface="IBM Plex Sans"/>
                <a:cs typeface="IBM Plex Sans"/>
                <a:sym typeface="IBM Plex Sans"/>
              </a:rPr>
              <a:t>It provides centralized management of books, members, transactions, fines, and inventory.</a:t>
            </a:r>
          </a:p>
          <a:p>
            <a:pPr algn="l" marL="550545" indent="-275272" lvl="1">
              <a:lnSpc>
                <a:spcPts val="3366"/>
              </a:lnSpc>
              <a:buFont typeface="Arial"/>
              <a:buChar char="•"/>
            </a:pPr>
            <a:r>
              <a:rPr lang="en-US" sz="2550">
                <a:solidFill>
                  <a:srgbClr val="10252E"/>
                </a:solidFill>
                <a:latin typeface="IBM Plex Sans"/>
                <a:ea typeface="IBM Plex Sans"/>
                <a:cs typeface="IBM Plex Sans"/>
                <a:sym typeface="IBM Plex Sans"/>
              </a:rPr>
              <a:t>The system is developed using React.js, Node.js, Express.js, MySQL, and RFID Reader API.</a:t>
            </a:r>
          </a:p>
          <a:p>
            <a:pPr algn="l" marL="550545" indent="-275272" lvl="1">
              <a:lnSpc>
                <a:spcPts val="3366"/>
              </a:lnSpc>
              <a:buFont typeface="Arial"/>
              <a:buChar char="•"/>
            </a:pPr>
            <a:r>
              <a:rPr lang="en-US" sz="2550">
                <a:solidFill>
                  <a:srgbClr val="10252E"/>
                </a:solidFill>
                <a:latin typeface="IBM Plex Sans"/>
                <a:ea typeface="IBM Plex Sans"/>
                <a:cs typeface="IBM Plex Sans"/>
                <a:sym typeface="IBM Plex Sans"/>
              </a:rPr>
              <a:t>It aims to reduce manual work, improve accuracy, save time, and provide efficient library management.</a:t>
            </a:r>
          </a:p>
          <a:p>
            <a:pPr algn="l">
              <a:lnSpc>
                <a:spcPts val="3366"/>
              </a:lnSpc>
            </a:pPr>
          </a:p>
        </p:txBody>
      </p:sp>
      <p:sp>
        <p:nvSpPr>
          <p:cNvPr name="TextBox 11" id="11"/>
          <p:cNvSpPr txBox="true"/>
          <p:nvPr/>
        </p:nvSpPr>
        <p:spPr>
          <a:xfrm rot="0">
            <a:off x="12001500" y="3293269"/>
            <a:ext cx="4000500" cy="5788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896"/>
              </a:lnSpc>
            </a:pPr>
            <a:r>
              <a:rPr lang="en-US" b="true" sz="4800" spc="-168">
                <a:solidFill>
                  <a:srgbClr val="20D6C7"/>
                </a:solidFill>
                <a:latin typeface="Sinar Grotesk Bold"/>
                <a:ea typeface="Sinar Grotesk Bold"/>
                <a:cs typeface="Sinar Grotesk Bold"/>
                <a:sym typeface="Sinar Grotesk Bold"/>
              </a:rPr>
              <a:t>SCAN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2001500" y="5198269"/>
            <a:ext cx="4000500" cy="5788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896"/>
              </a:lnSpc>
            </a:pPr>
            <a:r>
              <a:rPr lang="en-US" b="true" sz="4800" spc="-168">
                <a:solidFill>
                  <a:srgbClr val="FFBD59"/>
                </a:solidFill>
                <a:latin typeface="Sinar Grotesk Bold"/>
                <a:ea typeface="Sinar Grotesk Bold"/>
                <a:cs typeface="Sinar Grotesk Bold"/>
                <a:sym typeface="Sinar Grotesk Bold"/>
              </a:rPr>
              <a:t>SYNC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2001500" y="7103269"/>
            <a:ext cx="4000500" cy="5788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896"/>
              </a:lnSpc>
            </a:pPr>
            <a:r>
              <a:rPr lang="en-US" b="true" sz="4800" spc="-168">
                <a:solidFill>
                  <a:srgbClr val="10252E"/>
                </a:solidFill>
                <a:latin typeface="Sinar Grotesk Bold"/>
                <a:ea typeface="Sinar Grotesk Bold"/>
                <a:cs typeface="Sinar Grotesk Bold"/>
                <a:sym typeface="Sinar Grotesk Bold"/>
              </a:rPr>
              <a:t>TRACK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819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914400" y="497681"/>
            <a:ext cx="857250" cy="2909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50"/>
              </a:lnSpc>
            </a:pPr>
            <a:r>
              <a:rPr lang="en-US" sz="1800">
                <a:solidFill>
                  <a:srgbClr val="20D6C7"/>
                </a:solidFill>
                <a:latin typeface="IBM Plex Mono"/>
                <a:ea typeface="IBM Plex Mono"/>
                <a:cs typeface="IBM Plex Mono"/>
                <a:sym typeface="IBM Plex Mono"/>
              </a:rPr>
              <a:t>03</a:t>
            </a:r>
          </a:p>
        </p:txBody>
      </p:sp>
      <p:sp>
        <p:nvSpPr>
          <p:cNvPr name="Freeform 3" id="3"/>
          <p:cNvSpPr/>
          <p:nvPr/>
        </p:nvSpPr>
        <p:spPr>
          <a:xfrm flipH="false" flipV="false" rot="0">
            <a:off x="914400" y="771525"/>
            <a:ext cx="16459200" cy="47625"/>
          </a:xfrm>
          <a:custGeom>
            <a:avLst/>
            <a:gdLst/>
            <a:ahLst/>
            <a:cxnLst/>
            <a:rect r="r" b="b" t="t" l="l"/>
            <a:pathLst>
              <a:path h="47625" w="16459200">
                <a:moveTo>
                  <a:pt x="0" y="0"/>
                </a:moveTo>
                <a:lnTo>
                  <a:pt x="16459200" y="0"/>
                </a:lnTo>
                <a:lnTo>
                  <a:pt x="16459200" y="47625"/>
                </a:lnTo>
                <a:lnTo>
                  <a:pt x="0" y="4762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6428339" y="0"/>
            <a:ext cx="1859661" cy="1859661"/>
          </a:xfrm>
          <a:custGeom>
            <a:avLst/>
            <a:gdLst/>
            <a:ahLst/>
            <a:cxnLst/>
            <a:rect r="r" b="b" t="t" l="l"/>
            <a:pathLst>
              <a:path h="1859661" w="1859661">
                <a:moveTo>
                  <a:pt x="0" y="0"/>
                </a:moveTo>
                <a:lnTo>
                  <a:pt x="1859661" y="0"/>
                </a:lnTo>
                <a:lnTo>
                  <a:pt x="1859661" y="1859661"/>
                </a:lnTo>
                <a:lnTo>
                  <a:pt x="0" y="185966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914400" y="1162050"/>
            <a:ext cx="5443061" cy="6976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202"/>
              </a:lnSpc>
            </a:pPr>
            <a:r>
              <a:rPr lang="en-US" b="true" sz="5100" spc="-178">
                <a:solidFill>
                  <a:srgbClr val="F3F0E8"/>
                </a:solidFill>
                <a:latin typeface="Sinar Grotesk Bold"/>
                <a:ea typeface="Sinar Grotesk Bold"/>
                <a:cs typeface="Sinar Grotesk Bold"/>
                <a:sym typeface="Sinar Grotesk Bold"/>
              </a:rPr>
              <a:t>problem Statement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914400" y="9734550"/>
            <a:ext cx="6667500" cy="2200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87"/>
              </a:lnSpc>
            </a:pPr>
            <a:r>
              <a:rPr lang="en-US" sz="1350" spc="108">
                <a:solidFill>
                  <a:srgbClr val="94A7AA"/>
                </a:solidFill>
                <a:latin typeface="IBM Plex Mono"/>
                <a:ea typeface="IBM Plex Mono"/>
                <a:cs typeface="IBM Plex Mono"/>
                <a:sym typeface="IBM Plex Mono"/>
              </a:rPr>
              <a:t>RFID × DBMS  /  LIBRARY MANAGEMENT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64024" y="2107311"/>
            <a:ext cx="18159952" cy="42525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90255" indent="-345127" lvl="1">
              <a:lnSpc>
                <a:spcPts val="4220"/>
              </a:lnSpc>
              <a:buFont typeface="Arial"/>
              <a:buChar char="•"/>
            </a:pPr>
            <a:r>
              <a:rPr lang="en-US" sz="3197">
                <a:solidFill>
                  <a:srgbClr val="F3F0E8"/>
                </a:solidFill>
                <a:latin typeface="IBM Plex Sans"/>
                <a:ea typeface="IBM Plex Sans"/>
                <a:cs typeface="IBM Plex Sans"/>
                <a:sym typeface="IBM Plex Sans"/>
              </a:rPr>
              <a:t>Traditional library operations involve manual book issue and return processes.</a:t>
            </a:r>
          </a:p>
          <a:p>
            <a:pPr algn="l" marL="690255" indent="-345127" lvl="1">
              <a:lnSpc>
                <a:spcPts val="4220"/>
              </a:lnSpc>
              <a:buFont typeface="Arial"/>
              <a:buChar char="•"/>
            </a:pPr>
            <a:r>
              <a:rPr lang="en-US" sz="3197">
                <a:solidFill>
                  <a:srgbClr val="F3F0E8"/>
                </a:solidFill>
                <a:latin typeface="IBM Plex Sans"/>
                <a:ea typeface="IBM Plex Sans"/>
                <a:cs typeface="IBM Plex Sans"/>
                <a:sym typeface="IBM Plex Sans"/>
              </a:rPr>
              <a:t>Manual handling can lead to long waiting times and increased workload for library staff.</a:t>
            </a:r>
          </a:p>
          <a:p>
            <a:pPr algn="l" marL="690255" indent="-345127" lvl="1">
              <a:lnSpc>
                <a:spcPts val="4220"/>
              </a:lnSpc>
              <a:buFont typeface="Arial"/>
              <a:buChar char="•"/>
            </a:pPr>
            <a:r>
              <a:rPr lang="en-US" sz="3197">
                <a:solidFill>
                  <a:srgbClr val="F3F0E8"/>
                </a:solidFill>
                <a:latin typeface="IBM Plex Sans"/>
                <a:ea typeface="IBM Plex Sans"/>
                <a:cs typeface="IBM Plex Sans"/>
                <a:sym typeface="IBM Plex Sans"/>
              </a:rPr>
              <a:t>Maintaining book inventory and transaction records manually can be difficult.</a:t>
            </a:r>
          </a:p>
          <a:p>
            <a:pPr algn="l" marL="690255" indent="-345127" lvl="1">
              <a:lnSpc>
                <a:spcPts val="4220"/>
              </a:lnSpc>
              <a:buFont typeface="Arial"/>
              <a:buChar char="•"/>
            </a:pPr>
            <a:r>
              <a:rPr lang="en-US" sz="3197">
                <a:solidFill>
                  <a:srgbClr val="F3F0E8"/>
                </a:solidFill>
                <a:latin typeface="IBM Plex Sans"/>
                <a:ea typeface="IBM Plex Sans"/>
                <a:cs typeface="IBM Plex Sans"/>
                <a:sym typeface="IBM Plex Sans"/>
              </a:rPr>
              <a:t>Fine calculation and dues management require additional manual effort.</a:t>
            </a:r>
          </a:p>
          <a:p>
            <a:pPr algn="l" marL="690255" indent="-345127" lvl="1">
              <a:lnSpc>
                <a:spcPts val="4220"/>
              </a:lnSpc>
              <a:buFont typeface="Arial"/>
              <a:buChar char="•"/>
            </a:pPr>
            <a:r>
              <a:rPr lang="en-US" sz="3197">
                <a:solidFill>
                  <a:srgbClr val="F3F0E8"/>
                </a:solidFill>
                <a:latin typeface="IBM Plex Sans"/>
                <a:ea typeface="IBM Plex Sans"/>
                <a:cs typeface="IBM Plex Sans"/>
                <a:sym typeface="IBM Plex Sans"/>
              </a:rPr>
              <a:t>Tracking the movement and availability of books efficiently can be challenging.</a:t>
            </a:r>
          </a:p>
          <a:p>
            <a:pPr algn="l" marL="690255" indent="-345127" lvl="1">
              <a:lnSpc>
                <a:spcPts val="4220"/>
              </a:lnSpc>
              <a:buFont typeface="Arial"/>
              <a:buChar char="•"/>
            </a:pPr>
            <a:r>
              <a:rPr lang="en-US" sz="3197">
                <a:solidFill>
                  <a:srgbClr val="F3F0E8"/>
                </a:solidFill>
                <a:latin typeface="IBM Plex Sans"/>
                <a:ea typeface="IBM Plex Sans"/>
                <a:cs typeface="IBM Plex Sans"/>
                <a:sym typeface="IBM Plex Sans"/>
              </a:rPr>
              <a:t>Therefore, there is a need for an automated RFID-based system to improve the speed, accuracy, and efficiency of library operations.</a:t>
            </a:r>
          </a:p>
          <a:p>
            <a:pPr algn="l">
              <a:lnSpc>
                <a:spcPts val="4220"/>
              </a:lnSpc>
            </a:pP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3F0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914400" y="497681"/>
            <a:ext cx="857250" cy="2909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50"/>
              </a:lnSpc>
            </a:pPr>
            <a:r>
              <a:rPr lang="en-US" sz="1800">
                <a:solidFill>
                  <a:srgbClr val="20D6C7"/>
                </a:solidFill>
                <a:latin typeface="IBM Plex Mono"/>
                <a:ea typeface="IBM Plex Mono"/>
                <a:cs typeface="IBM Plex Mono"/>
                <a:sym typeface="IBM Plex Mono"/>
              </a:rPr>
              <a:t>04</a:t>
            </a:r>
          </a:p>
        </p:txBody>
      </p:sp>
      <p:sp>
        <p:nvSpPr>
          <p:cNvPr name="Freeform 3" id="3"/>
          <p:cNvSpPr/>
          <p:nvPr/>
        </p:nvSpPr>
        <p:spPr>
          <a:xfrm flipH="false" flipV="false" rot="0">
            <a:off x="914400" y="771525"/>
            <a:ext cx="16459200" cy="47625"/>
          </a:xfrm>
          <a:custGeom>
            <a:avLst/>
            <a:gdLst/>
            <a:ahLst/>
            <a:cxnLst/>
            <a:rect r="r" b="b" t="t" l="l"/>
            <a:pathLst>
              <a:path h="47625" w="16459200">
                <a:moveTo>
                  <a:pt x="0" y="0"/>
                </a:moveTo>
                <a:lnTo>
                  <a:pt x="16459200" y="0"/>
                </a:lnTo>
                <a:lnTo>
                  <a:pt x="16459200" y="47625"/>
                </a:lnTo>
                <a:lnTo>
                  <a:pt x="0" y="4762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343025" y="2069211"/>
            <a:ext cx="15010918" cy="7014718"/>
          </a:xfrm>
          <a:custGeom>
            <a:avLst/>
            <a:gdLst/>
            <a:ahLst/>
            <a:cxnLst/>
            <a:rect r="r" b="b" t="t" l="l"/>
            <a:pathLst>
              <a:path h="7014718" w="15010918">
                <a:moveTo>
                  <a:pt x="0" y="0"/>
                </a:moveTo>
                <a:lnTo>
                  <a:pt x="15010918" y="0"/>
                </a:lnTo>
                <a:lnTo>
                  <a:pt x="15010918" y="7014718"/>
                </a:lnTo>
                <a:lnTo>
                  <a:pt x="0" y="701471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1343025" y="2223838"/>
            <a:ext cx="14790739" cy="58103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658"/>
              </a:lnSpc>
            </a:pPr>
          </a:p>
          <a:p>
            <a:pPr algn="l" marL="761870" indent="-380935" lvl="1">
              <a:lnSpc>
                <a:spcPts val="4658"/>
              </a:lnSpc>
              <a:buFont typeface="Arial"/>
              <a:buChar char="•"/>
            </a:pPr>
            <a:r>
              <a:rPr lang="en-US" sz="3528">
                <a:solidFill>
                  <a:srgbClr val="10252E"/>
                </a:solidFill>
                <a:latin typeface="IBM Plex Sans"/>
                <a:ea typeface="IBM Plex Sans"/>
                <a:cs typeface="IBM Plex Sans"/>
                <a:sym typeface="IBM Plex Sans"/>
              </a:rPr>
              <a:t>To automate book issue and return operations using RFID technology.</a:t>
            </a:r>
          </a:p>
          <a:p>
            <a:pPr algn="l" marL="761870" indent="-380935" lvl="1">
              <a:lnSpc>
                <a:spcPts val="4658"/>
              </a:lnSpc>
              <a:buFont typeface="Arial"/>
              <a:buChar char="•"/>
            </a:pPr>
            <a:r>
              <a:rPr lang="en-US" sz="3528">
                <a:solidFill>
                  <a:srgbClr val="10252E"/>
                </a:solidFill>
                <a:latin typeface="IBM Plex Sans"/>
                <a:ea typeface="IBM Plex Sans"/>
                <a:cs typeface="IBM Plex Sans"/>
                <a:sym typeface="IBM Plex Sans"/>
              </a:rPr>
              <a:t>To maintain centralized records of books, members, and transactions.</a:t>
            </a:r>
          </a:p>
          <a:p>
            <a:pPr algn="l" marL="761870" indent="-380935" lvl="1">
              <a:lnSpc>
                <a:spcPts val="4658"/>
              </a:lnSpc>
              <a:buFont typeface="Arial"/>
              <a:buChar char="•"/>
            </a:pPr>
            <a:r>
              <a:rPr lang="en-US" sz="3528">
                <a:solidFill>
                  <a:srgbClr val="10252E"/>
                </a:solidFill>
                <a:latin typeface="IBM Plex Sans"/>
                <a:ea typeface="IBM Plex Sans"/>
                <a:cs typeface="IBM Plex Sans"/>
                <a:sym typeface="IBM Plex Sans"/>
              </a:rPr>
              <a:t>To provide real-time book inventory tracking and stock verification.</a:t>
            </a:r>
          </a:p>
          <a:p>
            <a:pPr algn="l" marL="761870" indent="-380935" lvl="1">
              <a:lnSpc>
                <a:spcPts val="4658"/>
              </a:lnSpc>
              <a:buFont typeface="Arial"/>
              <a:buChar char="•"/>
            </a:pPr>
            <a:r>
              <a:rPr lang="en-US" sz="3528">
                <a:solidFill>
                  <a:srgbClr val="10252E"/>
                </a:solidFill>
                <a:latin typeface="IBM Plex Sans"/>
                <a:ea typeface="IBM Plex Sans"/>
                <a:cs typeface="IBM Plex Sans"/>
                <a:sym typeface="IBM Plex Sans"/>
              </a:rPr>
              <a:t>To automate fine and dues calculation for overdue books.</a:t>
            </a:r>
          </a:p>
          <a:p>
            <a:pPr algn="l" marL="761870" indent="-380935" lvl="1">
              <a:lnSpc>
                <a:spcPts val="4658"/>
              </a:lnSpc>
              <a:buFont typeface="Arial"/>
              <a:buChar char="•"/>
            </a:pPr>
            <a:r>
              <a:rPr lang="en-US" sz="3528">
                <a:solidFill>
                  <a:srgbClr val="10252E"/>
                </a:solidFill>
                <a:latin typeface="IBM Plex Sans"/>
                <a:ea typeface="IBM Plex Sans"/>
                <a:cs typeface="IBM Plex Sans"/>
                <a:sym typeface="IBM Plex Sans"/>
              </a:rPr>
              <a:t>To reduce manual work and waiting time for library staff and users.</a:t>
            </a:r>
          </a:p>
          <a:p>
            <a:pPr algn="l" marL="761870" indent="-380935" lvl="1">
              <a:lnSpc>
                <a:spcPts val="4658"/>
              </a:lnSpc>
              <a:buFont typeface="Arial"/>
              <a:buChar char="•"/>
            </a:pPr>
            <a:r>
              <a:rPr lang="en-US" sz="3528">
                <a:solidFill>
                  <a:srgbClr val="10252E"/>
                </a:solidFill>
                <a:latin typeface="IBM Plex Sans"/>
                <a:ea typeface="IBM Plex Sans"/>
                <a:cs typeface="IBM Plex Sans"/>
                <a:sym typeface="IBM Plex Sans"/>
              </a:rPr>
              <a:t>To improve library security through RFID-based book monitoring.</a:t>
            </a:r>
          </a:p>
          <a:p>
            <a:pPr algn="l" marL="761870" indent="-380935" lvl="1">
              <a:lnSpc>
                <a:spcPts val="4658"/>
              </a:lnSpc>
              <a:buFont typeface="Arial"/>
              <a:buChar char="•"/>
            </a:pPr>
            <a:r>
              <a:rPr lang="en-US" sz="3528">
                <a:solidFill>
                  <a:srgbClr val="10252E"/>
                </a:solidFill>
                <a:latin typeface="IBM Plex Sans"/>
                <a:ea typeface="IBM Plex Sans"/>
                <a:cs typeface="IBM Plex Sans"/>
                <a:sym typeface="IBM Plex Sans"/>
              </a:rPr>
              <a:t>To generate reports for efficient library management.</a:t>
            </a:r>
          </a:p>
          <a:p>
            <a:pPr algn="l">
              <a:lnSpc>
                <a:spcPts val="4658"/>
              </a:lnSpc>
            </a:pPr>
          </a:p>
          <a:p>
            <a:pPr algn="l">
              <a:lnSpc>
                <a:spcPts val="4658"/>
              </a:lnSpc>
            </a:pPr>
          </a:p>
        </p:txBody>
      </p:sp>
      <p:sp>
        <p:nvSpPr>
          <p:cNvPr name="Freeform 6" id="6"/>
          <p:cNvSpPr/>
          <p:nvPr/>
        </p:nvSpPr>
        <p:spPr>
          <a:xfrm flipH="false" flipV="false" rot="0">
            <a:off x="15859494" y="0"/>
            <a:ext cx="2428506" cy="2428506"/>
          </a:xfrm>
          <a:custGeom>
            <a:avLst/>
            <a:gdLst/>
            <a:ahLst/>
            <a:cxnLst/>
            <a:rect r="r" b="b" t="t" l="l"/>
            <a:pathLst>
              <a:path h="2428506" w="2428506">
                <a:moveTo>
                  <a:pt x="0" y="0"/>
                </a:moveTo>
                <a:lnTo>
                  <a:pt x="2428506" y="0"/>
                </a:lnTo>
                <a:lnTo>
                  <a:pt x="2428506" y="2428506"/>
                </a:lnTo>
                <a:lnTo>
                  <a:pt x="0" y="2428506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914400" y="1162050"/>
            <a:ext cx="13525500" cy="6404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202"/>
              </a:lnSpc>
            </a:pPr>
            <a:r>
              <a:rPr lang="en-US" b="true" sz="5100" spc="-178">
                <a:solidFill>
                  <a:srgbClr val="10252E"/>
                </a:solidFill>
                <a:latin typeface="Sinar Grotesk Bold"/>
                <a:ea typeface="Sinar Grotesk Bold"/>
                <a:cs typeface="Sinar Grotesk Bold"/>
                <a:sym typeface="Sinar Grotesk Bold"/>
              </a:rPr>
              <a:t>Main Objectives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914400" y="9734550"/>
            <a:ext cx="6667500" cy="2200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87"/>
              </a:lnSpc>
            </a:pPr>
            <a:r>
              <a:rPr lang="en-US" sz="1350" spc="108">
                <a:solidFill>
                  <a:srgbClr val="61747A"/>
                </a:solidFill>
                <a:latin typeface="IBM Plex Mono"/>
                <a:ea typeface="IBM Plex Mono"/>
                <a:cs typeface="IBM Plex Mono"/>
                <a:sym typeface="IBM Plex Mono"/>
              </a:rPr>
              <a:t>RFID × DBMS  /  LIBRARY MANAGEMENT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819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914400" y="497681"/>
            <a:ext cx="857250" cy="2909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50"/>
              </a:lnSpc>
            </a:pPr>
            <a:r>
              <a:rPr lang="en-US" sz="1800">
                <a:solidFill>
                  <a:srgbClr val="20D6C7"/>
                </a:solidFill>
                <a:latin typeface="IBM Plex Mono"/>
                <a:ea typeface="IBM Plex Mono"/>
                <a:cs typeface="IBM Plex Mono"/>
                <a:sym typeface="IBM Plex Mono"/>
              </a:rPr>
              <a:t>05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914400" y="1162050"/>
            <a:ext cx="13525500" cy="6404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202"/>
              </a:lnSpc>
            </a:pPr>
            <a:r>
              <a:rPr lang="en-US" b="true" sz="5100" spc="-178">
                <a:solidFill>
                  <a:srgbClr val="F3F0E8"/>
                </a:solidFill>
                <a:latin typeface="Sinar Grotesk Bold"/>
                <a:ea typeface="Sinar Grotesk Bold"/>
                <a:cs typeface="Sinar Grotesk Bold"/>
                <a:sym typeface="Sinar Grotesk Bold"/>
              </a:rPr>
              <a:t>RFID-Based Proposed System</a:t>
            </a:r>
          </a:p>
        </p:txBody>
      </p:sp>
      <p:sp>
        <p:nvSpPr>
          <p:cNvPr name="Freeform 4" id="4"/>
          <p:cNvSpPr/>
          <p:nvPr/>
        </p:nvSpPr>
        <p:spPr>
          <a:xfrm flipH="false" flipV="false" rot="0">
            <a:off x="914400" y="771525"/>
            <a:ext cx="16459200" cy="47625"/>
          </a:xfrm>
          <a:custGeom>
            <a:avLst/>
            <a:gdLst/>
            <a:ahLst/>
            <a:cxnLst/>
            <a:rect r="r" b="b" t="t" l="l"/>
            <a:pathLst>
              <a:path h="47625" w="16459200">
                <a:moveTo>
                  <a:pt x="0" y="0"/>
                </a:moveTo>
                <a:lnTo>
                  <a:pt x="16459200" y="0"/>
                </a:lnTo>
                <a:lnTo>
                  <a:pt x="16459200" y="47625"/>
                </a:lnTo>
                <a:lnTo>
                  <a:pt x="0" y="4762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589516" y="1754886"/>
            <a:ext cx="17091088" cy="71938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37"/>
              </a:lnSpc>
            </a:pPr>
          </a:p>
          <a:p>
            <a:pPr algn="l" marL="774803" indent="-387402" lvl="1">
              <a:lnSpc>
                <a:spcPts val="4737"/>
              </a:lnSpc>
              <a:buFont typeface="Arial"/>
              <a:buChar char="•"/>
            </a:pPr>
            <a:r>
              <a:rPr lang="en-US" sz="3588">
                <a:solidFill>
                  <a:srgbClr val="94A7AA"/>
                </a:solidFill>
                <a:latin typeface="IBM Plex Sans"/>
                <a:ea typeface="IBM Plex Sans"/>
                <a:cs typeface="IBM Plex Sans"/>
                <a:sym typeface="IBM Plex Sans"/>
              </a:rPr>
              <a:t>A web-based library management system integrated with RFID technology.</a:t>
            </a:r>
          </a:p>
          <a:p>
            <a:pPr algn="l" marL="774803" indent="-387402" lvl="1">
              <a:lnSpc>
                <a:spcPts val="4737"/>
              </a:lnSpc>
              <a:buFont typeface="Arial"/>
              <a:buChar char="•"/>
            </a:pPr>
            <a:r>
              <a:rPr lang="en-US" sz="3588">
                <a:solidFill>
                  <a:srgbClr val="94A7AA"/>
                </a:solidFill>
                <a:latin typeface="IBM Plex Sans"/>
                <a:ea typeface="IBM Plex Sans"/>
                <a:cs typeface="IBM Plex Sans"/>
                <a:sym typeface="IBM Plex Sans"/>
              </a:rPr>
              <a:t>RFID tags are assigned to books for quick and automatic identification.</a:t>
            </a:r>
          </a:p>
          <a:p>
            <a:pPr algn="l" marL="774803" indent="-387402" lvl="1">
              <a:lnSpc>
                <a:spcPts val="4737"/>
              </a:lnSpc>
              <a:buFont typeface="Arial"/>
              <a:buChar char="•"/>
            </a:pPr>
            <a:r>
              <a:rPr lang="en-US" sz="3588">
                <a:solidFill>
                  <a:srgbClr val="94A7AA"/>
                </a:solidFill>
                <a:latin typeface="IBM Plex Sans"/>
                <a:ea typeface="IBM Plex Sans"/>
                <a:cs typeface="IBM Plex Sans"/>
                <a:sym typeface="IBM Plex Sans"/>
              </a:rPr>
              <a:t>Automates book issue and return operations using RFID scanning.</a:t>
            </a:r>
          </a:p>
          <a:p>
            <a:pPr algn="l" marL="774803" indent="-387402" lvl="1">
              <a:lnSpc>
                <a:spcPts val="4737"/>
              </a:lnSpc>
              <a:buFont typeface="Arial"/>
              <a:buChar char="•"/>
            </a:pPr>
            <a:r>
              <a:rPr lang="en-US" sz="3588">
                <a:solidFill>
                  <a:srgbClr val="94A7AA"/>
                </a:solidFill>
                <a:latin typeface="IBM Plex Sans"/>
                <a:ea typeface="IBM Plex Sans"/>
                <a:cs typeface="IBM Plex Sans"/>
                <a:sym typeface="IBM Plex Sans"/>
              </a:rPr>
              <a:t>Maintains centralized records of books, members, and transactions.</a:t>
            </a:r>
          </a:p>
          <a:p>
            <a:pPr algn="l" marL="774803" indent="-387402" lvl="1">
              <a:lnSpc>
                <a:spcPts val="4737"/>
              </a:lnSpc>
              <a:buFont typeface="Arial"/>
              <a:buChar char="•"/>
            </a:pPr>
            <a:r>
              <a:rPr lang="en-US" sz="3588">
                <a:solidFill>
                  <a:srgbClr val="94A7AA"/>
                </a:solidFill>
                <a:latin typeface="IBM Plex Sans"/>
                <a:ea typeface="IBM Plex Sans"/>
                <a:cs typeface="IBM Plex Sans"/>
                <a:sym typeface="IBM Plex Sans"/>
              </a:rPr>
              <a:t>Provides automated fine and dues management.</a:t>
            </a:r>
          </a:p>
          <a:p>
            <a:pPr algn="l" marL="774803" indent="-387402" lvl="1">
              <a:lnSpc>
                <a:spcPts val="4737"/>
              </a:lnSpc>
              <a:buFont typeface="Arial"/>
              <a:buChar char="•"/>
            </a:pPr>
            <a:r>
              <a:rPr lang="en-US" sz="3588">
                <a:solidFill>
                  <a:srgbClr val="94A7AA"/>
                </a:solidFill>
                <a:latin typeface="IBM Plex Sans"/>
                <a:ea typeface="IBM Plex Sans"/>
                <a:cs typeface="IBM Plex Sans"/>
                <a:sym typeface="IBM Plex Sans"/>
              </a:rPr>
              <a:t>Supports stock verification, book recommendations, and report generation.</a:t>
            </a:r>
          </a:p>
          <a:p>
            <a:pPr algn="l" marL="774803" indent="-387402" lvl="1">
              <a:lnSpc>
                <a:spcPts val="4737"/>
              </a:lnSpc>
              <a:buFont typeface="Arial"/>
              <a:buChar char="•"/>
            </a:pPr>
            <a:r>
              <a:rPr lang="en-US" sz="3588">
                <a:solidFill>
                  <a:srgbClr val="94A7AA"/>
                </a:solidFill>
                <a:latin typeface="IBM Plex Sans"/>
                <a:ea typeface="IBM Plex Sans"/>
                <a:cs typeface="IBM Plex Sans"/>
                <a:sym typeface="IBM Plex Sans"/>
              </a:rPr>
              <a:t>Reduces manual work and improves the speed, accuracy, and efficiency of library operations</a:t>
            </a:r>
          </a:p>
          <a:p>
            <a:pPr algn="l">
              <a:lnSpc>
                <a:spcPts val="4737"/>
              </a:lnSpc>
            </a:pPr>
            <a:r>
              <a:rPr lang="en-US" sz="3588">
                <a:solidFill>
                  <a:srgbClr val="94A7AA"/>
                </a:solidFill>
                <a:latin typeface="IBM Plex Sans"/>
                <a:ea typeface="IBM Plex Sans"/>
                <a:cs typeface="IBM Plex Sans"/>
                <a:sym typeface="IBM Plex Sans"/>
              </a:rPr>
              <a:t>Traditional System → Manual Process → More Time</a:t>
            </a:r>
          </a:p>
          <a:p>
            <a:pPr algn="l">
              <a:lnSpc>
                <a:spcPts val="4737"/>
              </a:lnSpc>
            </a:pPr>
            <a:r>
              <a:rPr lang="en-US" sz="3588">
                <a:solidFill>
                  <a:srgbClr val="94A7AA"/>
                </a:solidFill>
                <a:latin typeface="IBM Plex Sans"/>
                <a:ea typeface="IBM Plex Sans"/>
                <a:cs typeface="IBM Plex Sans"/>
                <a:sym typeface="IBM Plex Sans"/>
              </a:rPr>
              <a:t>Proposed System → RFID Automation → Faster &amp; Efficient</a:t>
            </a:r>
          </a:p>
          <a:p>
            <a:pPr algn="ctr">
              <a:lnSpc>
                <a:spcPts val="4737"/>
              </a:lnSpc>
            </a:pPr>
          </a:p>
        </p:txBody>
      </p:sp>
      <p:sp>
        <p:nvSpPr>
          <p:cNvPr name="Freeform 6" id="6"/>
          <p:cNvSpPr/>
          <p:nvPr/>
        </p:nvSpPr>
        <p:spPr>
          <a:xfrm flipH="false" flipV="false" rot="0">
            <a:off x="16329223" y="0"/>
            <a:ext cx="1958777" cy="1958777"/>
          </a:xfrm>
          <a:custGeom>
            <a:avLst/>
            <a:gdLst/>
            <a:ahLst/>
            <a:cxnLst/>
            <a:rect r="r" b="b" t="t" l="l"/>
            <a:pathLst>
              <a:path h="1958777" w="1958777">
                <a:moveTo>
                  <a:pt x="0" y="0"/>
                </a:moveTo>
                <a:lnTo>
                  <a:pt x="1958777" y="0"/>
                </a:lnTo>
                <a:lnTo>
                  <a:pt x="1958777" y="1958777"/>
                </a:lnTo>
                <a:lnTo>
                  <a:pt x="0" y="195877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914400" y="9734550"/>
            <a:ext cx="6667500" cy="2200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87"/>
              </a:lnSpc>
            </a:pPr>
            <a:r>
              <a:rPr lang="en-US" sz="1350" spc="108">
                <a:solidFill>
                  <a:srgbClr val="94A7AA"/>
                </a:solidFill>
                <a:latin typeface="IBM Plex Mono"/>
                <a:ea typeface="IBM Plex Mono"/>
                <a:cs typeface="IBM Plex Mono"/>
                <a:sym typeface="IBM Plex Mono"/>
              </a:rPr>
              <a:t>RFID × DBMS  /  LIBRARY MANAGEMENT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1029950" y="4050506"/>
            <a:ext cx="2857500" cy="264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42"/>
              </a:lnSpc>
            </a:pPr>
            <a:r>
              <a:rPr lang="en-US" b="true" sz="2100" spc="-72">
                <a:solidFill>
                  <a:srgbClr val="081922"/>
                </a:solidFill>
                <a:latin typeface="Sinar Grotesk Bold"/>
                <a:ea typeface="Sinar Grotesk Bold"/>
                <a:cs typeface="Sinar Grotesk Bold"/>
                <a:sym typeface="Sinar Grotesk Bold"/>
              </a:rPr>
              <a:t>DATABASE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1315700" y="5357812"/>
            <a:ext cx="2286000" cy="2844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78"/>
              </a:lnSpc>
            </a:pPr>
            <a:r>
              <a:rPr lang="en-US" sz="1650">
                <a:solidFill>
                  <a:srgbClr val="10252E"/>
                </a:solidFill>
                <a:latin typeface="IBM Plex Sans"/>
                <a:ea typeface="IBM Plex Sans"/>
                <a:cs typeface="IBM Plex Sans"/>
                <a:sym typeface="IBM Plex Sans"/>
              </a:rPr>
              <a:t>Persists every event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3F0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914400" y="497681"/>
            <a:ext cx="857250" cy="2909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50"/>
              </a:lnSpc>
            </a:pPr>
            <a:r>
              <a:rPr lang="en-US" sz="1800">
                <a:solidFill>
                  <a:srgbClr val="20D6C7"/>
                </a:solidFill>
                <a:latin typeface="IBM Plex Mono"/>
                <a:ea typeface="IBM Plex Mono"/>
                <a:cs typeface="IBM Plex Mono"/>
                <a:sym typeface="IBM Plex Mono"/>
              </a:rPr>
              <a:t>06</a:t>
            </a:r>
          </a:p>
        </p:txBody>
      </p:sp>
      <p:sp>
        <p:nvSpPr>
          <p:cNvPr name="Freeform 3" id="3"/>
          <p:cNvSpPr/>
          <p:nvPr/>
        </p:nvSpPr>
        <p:spPr>
          <a:xfrm flipH="false" flipV="false" rot="0">
            <a:off x="914400" y="771525"/>
            <a:ext cx="16459200" cy="47625"/>
          </a:xfrm>
          <a:custGeom>
            <a:avLst/>
            <a:gdLst/>
            <a:ahLst/>
            <a:cxnLst/>
            <a:rect r="r" b="b" t="t" l="l"/>
            <a:pathLst>
              <a:path h="47625" w="16459200">
                <a:moveTo>
                  <a:pt x="0" y="0"/>
                </a:moveTo>
                <a:lnTo>
                  <a:pt x="16459200" y="0"/>
                </a:lnTo>
                <a:lnTo>
                  <a:pt x="16459200" y="47625"/>
                </a:lnTo>
                <a:lnTo>
                  <a:pt x="0" y="4762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2259627" y="647938"/>
            <a:ext cx="14532642" cy="9639062"/>
          </a:xfrm>
          <a:custGeom>
            <a:avLst/>
            <a:gdLst/>
            <a:ahLst/>
            <a:cxnLst/>
            <a:rect r="r" b="b" t="t" l="l"/>
            <a:pathLst>
              <a:path h="9639062" w="14532642">
                <a:moveTo>
                  <a:pt x="0" y="0"/>
                </a:moveTo>
                <a:lnTo>
                  <a:pt x="14532642" y="0"/>
                </a:lnTo>
                <a:lnTo>
                  <a:pt x="14532642" y="9639062"/>
                </a:lnTo>
                <a:lnTo>
                  <a:pt x="0" y="963906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503" t="-1230" r="-21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1537046" y="97726"/>
            <a:ext cx="5886450" cy="6976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202"/>
              </a:lnSpc>
            </a:pPr>
            <a:r>
              <a:rPr lang="en-US" b="true" sz="5100" spc="-178">
                <a:solidFill>
                  <a:srgbClr val="10252E"/>
                </a:solidFill>
                <a:latin typeface="Sinar Grotesk Bold"/>
                <a:ea typeface="Sinar Grotesk Bold"/>
                <a:cs typeface="Sinar Grotesk Bold"/>
                <a:sym typeface="Sinar Grotesk Bold"/>
              </a:rPr>
              <a:t>System  Architecture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3F0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914400" y="497681"/>
            <a:ext cx="857250" cy="2909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50"/>
              </a:lnSpc>
            </a:pPr>
            <a:r>
              <a:rPr lang="en-US" sz="1800">
                <a:solidFill>
                  <a:srgbClr val="20D6C7"/>
                </a:solidFill>
                <a:latin typeface="IBM Plex Mono"/>
                <a:ea typeface="IBM Plex Mono"/>
                <a:cs typeface="IBM Plex Mono"/>
                <a:sym typeface="IBM Plex Mono"/>
              </a:rPr>
              <a:t>08</a:t>
            </a:r>
          </a:p>
        </p:txBody>
      </p:sp>
      <p:sp>
        <p:nvSpPr>
          <p:cNvPr name="Freeform 3" id="3"/>
          <p:cNvSpPr/>
          <p:nvPr/>
        </p:nvSpPr>
        <p:spPr>
          <a:xfrm flipH="false" flipV="false" rot="0">
            <a:off x="914400" y="771525"/>
            <a:ext cx="16459200" cy="47625"/>
          </a:xfrm>
          <a:custGeom>
            <a:avLst/>
            <a:gdLst/>
            <a:ahLst/>
            <a:cxnLst/>
            <a:rect r="r" b="b" t="t" l="l"/>
            <a:pathLst>
              <a:path h="47625" w="16459200">
                <a:moveTo>
                  <a:pt x="0" y="0"/>
                </a:moveTo>
                <a:lnTo>
                  <a:pt x="16459200" y="0"/>
                </a:lnTo>
                <a:lnTo>
                  <a:pt x="16459200" y="47625"/>
                </a:lnTo>
                <a:lnTo>
                  <a:pt x="0" y="4762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5859494" y="0"/>
            <a:ext cx="2428506" cy="2428506"/>
          </a:xfrm>
          <a:custGeom>
            <a:avLst/>
            <a:gdLst/>
            <a:ahLst/>
            <a:cxnLst/>
            <a:rect r="r" b="b" t="t" l="l"/>
            <a:pathLst>
              <a:path h="2428506" w="2428506">
                <a:moveTo>
                  <a:pt x="0" y="0"/>
                </a:moveTo>
                <a:lnTo>
                  <a:pt x="2428506" y="0"/>
                </a:lnTo>
                <a:lnTo>
                  <a:pt x="2428506" y="2428506"/>
                </a:lnTo>
                <a:lnTo>
                  <a:pt x="0" y="242850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914400" y="1162050"/>
            <a:ext cx="4640461" cy="6976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202"/>
              </a:lnSpc>
            </a:pPr>
            <a:r>
              <a:rPr lang="en-US" b="true" sz="5100" spc="-178">
                <a:solidFill>
                  <a:srgbClr val="10252E"/>
                </a:solidFill>
                <a:latin typeface="Sinar Grotesk Bold"/>
                <a:ea typeface="Sinar Grotesk Bold"/>
                <a:cs typeface="Sinar Grotesk Bold"/>
                <a:sym typeface="Sinar Grotesk Bold"/>
              </a:rPr>
              <a:t>System Modules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914400" y="9734550"/>
            <a:ext cx="6667500" cy="2200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87"/>
              </a:lnSpc>
            </a:pPr>
            <a:r>
              <a:rPr lang="en-US" sz="1350" spc="108">
                <a:solidFill>
                  <a:srgbClr val="61747A"/>
                </a:solidFill>
                <a:latin typeface="IBM Plex Mono"/>
                <a:ea typeface="IBM Plex Mono"/>
                <a:cs typeface="IBM Plex Mono"/>
                <a:sym typeface="IBM Plex Mono"/>
              </a:rPr>
              <a:t>RFID × DBMS  /  LIBRARY MANAGEMENT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952500" y="4469606"/>
            <a:ext cx="2857500" cy="264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42"/>
              </a:lnSpc>
            </a:pPr>
            <a:r>
              <a:rPr lang="en-US" b="true" sz="2100" spc="-72">
                <a:solidFill>
                  <a:srgbClr val="F3F0E8"/>
                </a:solidFill>
                <a:latin typeface="Sinar Grotesk Bold"/>
                <a:ea typeface="Sinar Grotesk Bold"/>
                <a:cs typeface="Sinar Grotesk Bold"/>
                <a:sym typeface="Sinar Grotesk Bold"/>
              </a:rPr>
              <a:t>STUDENT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429441" y="2494198"/>
            <a:ext cx="17238618" cy="35601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751771" indent="-375886" lvl="1">
              <a:lnSpc>
                <a:spcPts val="3551"/>
              </a:lnSpc>
              <a:buFont typeface="Arial"/>
              <a:buChar char="•"/>
            </a:pPr>
            <a:r>
              <a:rPr lang="en-US" b="true" sz="3482" spc="-118">
                <a:solidFill>
                  <a:srgbClr val="081922"/>
                </a:solidFill>
                <a:latin typeface="Sinar Grotesk Bold"/>
                <a:ea typeface="Sinar Grotesk Bold"/>
                <a:cs typeface="Sinar Grotesk Bold"/>
                <a:sym typeface="Sinar Grotesk Bold"/>
              </a:rPr>
              <a:t>Catalog &amp; RFID Tagging – Manage books and assign unique RFID tags for identification.</a:t>
            </a:r>
          </a:p>
          <a:p>
            <a:pPr algn="ctr" marL="751771" indent="-375886" lvl="1">
              <a:lnSpc>
                <a:spcPts val="3551"/>
              </a:lnSpc>
              <a:buFont typeface="Arial"/>
              <a:buChar char="•"/>
            </a:pPr>
            <a:r>
              <a:rPr lang="en-US" b="true" sz="3482" spc="-118">
                <a:solidFill>
                  <a:srgbClr val="081922"/>
                </a:solidFill>
                <a:latin typeface="Sinar Grotesk Bold"/>
                <a:ea typeface="Sinar Grotesk Bold"/>
                <a:cs typeface="Sinar Grotesk Bold"/>
                <a:sym typeface="Sinar Grotesk Bold"/>
              </a:rPr>
              <a:t>Issue/Return Automation – Automate book issue and return using RFID scanning.</a:t>
            </a:r>
          </a:p>
          <a:p>
            <a:pPr algn="ctr" marL="751771" indent="-375886" lvl="1">
              <a:lnSpc>
                <a:spcPts val="3551"/>
              </a:lnSpc>
              <a:buFont typeface="Arial"/>
              <a:buChar char="•"/>
            </a:pPr>
            <a:r>
              <a:rPr lang="en-US" b="true" sz="3482" spc="-118">
                <a:solidFill>
                  <a:srgbClr val="081922"/>
                </a:solidFill>
                <a:latin typeface="Sinar Grotesk Bold"/>
                <a:ea typeface="Sinar Grotesk Bold"/>
                <a:cs typeface="Sinar Grotesk Bold"/>
                <a:sym typeface="Sinar Grotesk Bold"/>
              </a:rPr>
              <a:t>Fine &amp; Dues Management – Calculate and manage fines for overdue books.</a:t>
            </a:r>
          </a:p>
          <a:p>
            <a:pPr algn="ctr" marL="751771" indent="-375886" lvl="1">
              <a:lnSpc>
                <a:spcPts val="3551"/>
              </a:lnSpc>
              <a:buFont typeface="Arial"/>
              <a:buChar char="•"/>
            </a:pPr>
            <a:r>
              <a:rPr lang="en-US" b="true" sz="3482" spc="-118">
                <a:solidFill>
                  <a:srgbClr val="081922"/>
                </a:solidFill>
                <a:latin typeface="Sinar Grotesk Bold"/>
                <a:ea typeface="Sinar Grotesk Bold"/>
                <a:cs typeface="Sinar Grotesk Bold"/>
                <a:sym typeface="Sinar Grotesk Bold"/>
              </a:rPr>
              <a:t>Member Management – Maintain and manage library member information.</a:t>
            </a:r>
          </a:p>
          <a:p>
            <a:pPr algn="ctr" marL="751771" indent="-375886" lvl="1">
              <a:lnSpc>
                <a:spcPts val="3551"/>
              </a:lnSpc>
              <a:buFont typeface="Arial"/>
              <a:buChar char="•"/>
            </a:pPr>
            <a:r>
              <a:rPr lang="en-US" b="true" sz="3482" spc="-118">
                <a:solidFill>
                  <a:srgbClr val="081922"/>
                </a:solidFill>
                <a:latin typeface="Sinar Grotesk Bold"/>
                <a:ea typeface="Sinar Grotesk Bold"/>
                <a:cs typeface="Sinar Grotesk Bold"/>
                <a:sym typeface="Sinar Grotesk Bold"/>
              </a:rPr>
              <a:t>Book Recommendations – Provide recommendations based on available library titles.</a:t>
            </a:r>
          </a:p>
          <a:p>
            <a:pPr algn="ctr" marL="751771" indent="-375886" lvl="1">
              <a:lnSpc>
                <a:spcPts val="3551"/>
              </a:lnSpc>
              <a:buFont typeface="Arial"/>
              <a:buChar char="•"/>
            </a:pPr>
            <a:r>
              <a:rPr lang="en-US" b="true" sz="3482" spc="-118">
                <a:solidFill>
                  <a:srgbClr val="081922"/>
                </a:solidFill>
                <a:latin typeface="Sinar Grotesk Bold"/>
                <a:ea typeface="Sinar Grotesk Bold"/>
                <a:cs typeface="Sinar Grotesk Bold"/>
                <a:sym typeface="Sinar Grotesk Bold"/>
              </a:rPr>
              <a:t>Stock Verification – Track book availability and verify library inventory.</a:t>
            </a:r>
          </a:p>
          <a:p>
            <a:pPr algn="ctr" marL="751771" indent="-375886" lvl="1">
              <a:lnSpc>
                <a:spcPts val="3551"/>
              </a:lnSpc>
              <a:buFont typeface="Arial"/>
              <a:buChar char="•"/>
            </a:pPr>
            <a:r>
              <a:rPr lang="en-US" b="true" sz="3482" spc="-118">
                <a:solidFill>
                  <a:srgbClr val="081922"/>
                </a:solidFill>
                <a:latin typeface="Sinar Grotesk Bold"/>
                <a:ea typeface="Sinar Grotesk Bold"/>
                <a:cs typeface="Sinar Grotesk Bold"/>
                <a:sym typeface="Sinar Grotesk Bold"/>
              </a:rPr>
              <a:t>Reports – Generate reports related to books, members, transactions, fines, and stock.</a:t>
            </a:r>
          </a:p>
          <a:p>
            <a:pPr algn="ctr">
              <a:lnSpc>
                <a:spcPts val="3551"/>
              </a:lnSpc>
            </a:pPr>
          </a:p>
        </p:txBody>
      </p:sp>
      <p:sp>
        <p:nvSpPr>
          <p:cNvPr name="TextBox 9" id="9"/>
          <p:cNvSpPr txBox="true"/>
          <p:nvPr/>
        </p:nvSpPr>
        <p:spPr>
          <a:xfrm rot="0">
            <a:off x="14859000" y="6660356"/>
            <a:ext cx="2857500" cy="264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42"/>
              </a:lnSpc>
            </a:pPr>
            <a:r>
              <a:rPr lang="en-US" b="true" sz="2100" spc="-72">
                <a:solidFill>
                  <a:srgbClr val="F3F0E8"/>
                </a:solidFill>
                <a:latin typeface="Sinar Grotesk Bold"/>
                <a:ea typeface="Sinar Grotesk Bold"/>
                <a:cs typeface="Sinar Grotesk Bold"/>
                <a:sym typeface="Sinar Grotesk Bold"/>
              </a:rPr>
              <a:t>RFID_TAG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6191250" y="7612856"/>
            <a:ext cx="2857500" cy="264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42"/>
              </a:lnSpc>
            </a:pPr>
            <a:r>
              <a:rPr lang="en-US" b="true" sz="2100" spc="-72">
                <a:solidFill>
                  <a:srgbClr val="F3F0E8"/>
                </a:solidFill>
                <a:latin typeface="Sinar Grotesk Bold"/>
                <a:ea typeface="Sinar Grotesk Bold"/>
                <a:cs typeface="Sinar Grotesk Bold"/>
                <a:sym typeface="Sinar Grotesk Bold"/>
              </a:rPr>
              <a:t>FINE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914400" y="8553450"/>
            <a:ext cx="15240000" cy="2933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50"/>
              </a:lnSpc>
            </a:pPr>
            <a:r>
              <a:rPr lang="en-US" sz="1800">
                <a:solidFill>
                  <a:srgbClr val="5C7076"/>
                </a:solidFill>
                <a:latin typeface="IBM Plex Mono"/>
                <a:ea typeface="IBM Plex Mono"/>
                <a:cs typeface="IBM Plex Mono"/>
                <a:sym typeface="IBM Plex Mono"/>
              </a:rPr>
              <a:t>One student → many transactions  /  One book → many transactions over time  /  Librarian manages circulation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819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914400" y="497681"/>
            <a:ext cx="857250" cy="2909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50"/>
              </a:lnSpc>
            </a:pPr>
            <a:r>
              <a:rPr lang="en-US" sz="1800">
                <a:solidFill>
                  <a:srgbClr val="20D6C7"/>
                </a:solidFill>
                <a:latin typeface="IBM Plex Mono"/>
                <a:ea typeface="IBM Plex Mono"/>
                <a:cs typeface="IBM Plex Mono"/>
                <a:sym typeface="IBM Plex Mono"/>
              </a:rPr>
              <a:t>09</a:t>
            </a:r>
          </a:p>
        </p:txBody>
      </p:sp>
      <p:sp>
        <p:nvSpPr>
          <p:cNvPr name="Freeform 3" id="3"/>
          <p:cNvSpPr/>
          <p:nvPr/>
        </p:nvSpPr>
        <p:spPr>
          <a:xfrm flipH="false" flipV="false" rot="0">
            <a:off x="914400" y="771525"/>
            <a:ext cx="16459200" cy="47625"/>
          </a:xfrm>
          <a:custGeom>
            <a:avLst/>
            <a:gdLst/>
            <a:ahLst/>
            <a:cxnLst/>
            <a:rect r="r" b="b" t="t" l="l"/>
            <a:pathLst>
              <a:path h="47625" w="16459200">
                <a:moveTo>
                  <a:pt x="0" y="0"/>
                </a:moveTo>
                <a:lnTo>
                  <a:pt x="16459200" y="0"/>
                </a:lnTo>
                <a:lnTo>
                  <a:pt x="16459200" y="47625"/>
                </a:lnTo>
                <a:lnTo>
                  <a:pt x="0" y="4762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914400" y="2686050"/>
            <a:ext cx="2324100" cy="2124075"/>
          </a:xfrm>
          <a:custGeom>
            <a:avLst/>
            <a:gdLst/>
            <a:ahLst/>
            <a:cxnLst/>
            <a:rect r="r" b="b" t="t" l="l"/>
            <a:pathLst>
              <a:path h="2124075" w="2324100">
                <a:moveTo>
                  <a:pt x="0" y="0"/>
                </a:moveTo>
                <a:lnTo>
                  <a:pt x="2324100" y="0"/>
                </a:lnTo>
                <a:lnTo>
                  <a:pt x="2324100" y="2124075"/>
                </a:lnTo>
                <a:lnTo>
                  <a:pt x="0" y="212407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3657600" y="2686050"/>
            <a:ext cx="2324100" cy="2124075"/>
          </a:xfrm>
          <a:custGeom>
            <a:avLst/>
            <a:gdLst/>
            <a:ahLst/>
            <a:cxnLst/>
            <a:rect r="r" b="b" t="t" l="l"/>
            <a:pathLst>
              <a:path h="2124075" w="2324100">
                <a:moveTo>
                  <a:pt x="0" y="0"/>
                </a:moveTo>
                <a:lnTo>
                  <a:pt x="2324100" y="0"/>
                </a:lnTo>
                <a:lnTo>
                  <a:pt x="2324100" y="2124075"/>
                </a:lnTo>
                <a:lnTo>
                  <a:pt x="0" y="212407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6400800" y="2686050"/>
            <a:ext cx="2324100" cy="2124075"/>
          </a:xfrm>
          <a:custGeom>
            <a:avLst/>
            <a:gdLst/>
            <a:ahLst/>
            <a:cxnLst/>
            <a:rect r="r" b="b" t="t" l="l"/>
            <a:pathLst>
              <a:path h="2124075" w="2324100">
                <a:moveTo>
                  <a:pt x="0" y="0"/>
                </a:moveTo>
                <a:lnTo>
                  <a:pt x="2324100" y="0"/>
                </a:lnTo>
                <a:lnTo>
                  <a:pt x="2324100" y="2124075"/>
                </a:lnTo>
                <a:lnTo>
                  <a:pt x="0" y="212407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9144000" y="2686050"/>
            <a:ext cx="2324100" cy="2124075"/>
          </a:xfrm>
          <a:custGeom>
            <a:avLst/>
            <a:gdLst/>
            <a:ahLst/>
            <a:cxnLst/>
            <a:rect r="r" b="b" t="t" l="l"/>
            <a:pathLst>
              <a:path h="2124075" w="2324100">
                <a:moveTo>
                  <a:pt x="0" y="0"/>
                </a:moveTo>
                <a:lnTo>
                  <a:pt x="2324100" y="0"/>
                </a:lnTo>
                <a:lnTo>
                  <a:pt x="2324100" y="2124075"/>
                </a:lnTo>
                <a:lnTo>
                  <a:pt x="0" y="212407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1887200" y="2686050"/>
            <a:ext cx="2324100" cy="2124075"/>
          </a:xfrm>
          <a:custGeom>
            <a:avLst/>
            <a:gdLst/>
            <a:ahLst/>
            <a:cxnLst/>
            <a:rect r="r" b="b" t="t" l="l"/>
            <a:pathLst>
              <a:path h="2124075" w="2324100">
                <a:moveTo>
                  <a:pt x="0" y="0"/>
                </a:moveTo>
                <a:lnTo>
                  <a:pt x="2324100" y="0"/>
                </a:lnTo>
                <a:lnTo>
                  <a:pt x="2324100" y="2124075"/>
                </a:lnTo>
                <a:lnTo>
                  <a:pt x="0" y="212407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4630400" y="2686050"/>
            <a:ext cx="2324100" cy="2124075"/>
          </a:xfrm>
          <a:custGeom>
            <a:avLst/>
            <a:gdLst/>
            <a:ahLst/>
            <a:cxnLst/>
            <a:rect r="r" b="b" t="t" l="l"/>
            <a:pathLst>
              <a:path h="2124075" w="2324100">
                <a:moveTo>
                  <a:pt x="0" y="0"/>
                </a:moveTo>
                <a:lnTo>
                  <a:pt x="2324100" y="0"/>
                </a:lnTo>
                <a:lnTo>
                  <a:pt x="2324100" y="2124075"/>
                </a:lnTo>
                <a:lnTo>
                  <a:pt x="0" y="2124075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1619250" y="6629400"/>
            <a:ext cx="4095750" cy="5133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36"/>
              </a:lnSpc>
            </a:pPr>
            <a:r>
              <a:rPr lang="en-US" sz="3150">
                <a:solidFill>
                  <a:srgbClr val="20D6C7"/>
                </a:solidFill>
                <a:latin typeface="IBM Plex Mono"/>
                <a:ea typeface="IBM Plex Mono"/>
                <a:cs typeface="IBM Plex Mono"/>
                <a:sym typeface="IBM Plex Mono"/>
              </a:rPr>
              <a:t>RFID  LIB00125</a:t>
            </a:r>
          </a:p>
        </p:txBody>
      </p:sp>
      <p:sp>
        <p:nvSpPr>
          <p:cNvPr name="AutoShape 11" id="11"/>
          <p:cNvSpPr/>
          <p:nvPr/>
        </p:nvSpPr>
        <p:spPr>
          <a:xfrm rot="185640">
            <a:off x="5695436" y="6938962"/>
            <a:ext cx="705879" cy="0"/>
          </a:xfrm>
          <a:prstGeom prst="line">
            <a:avLst/>
          </a:prstGeom>
          <a:ln cap="rnd" w="28575">
            <a:solidFill>
              <a:srgbClr val="FFBD59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2" id="12"/>
          <p:cNvSpPr/>
          <p:nvPr/>
        </p:nvSpPr>
        <p:spPr>
          <a:xfrm rot="185640">
            <a:off x="13029686" y="6938962"/>
            <a:ext cx="705879" cy="0"/>
          </a:xfrm>
          <a:prstGeom prst="line">
            <a:avLst/>
          </a:prstGeom>
          <a:ln cap="rnd" w="28575">
            <a:solidFill>
              <a:srgbClr val="FFBD59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13" id="13"/>
          <p:cNvSpPr/>
          <p:nvPr/>
        </p:nvSpPr>
        <p:spPr>
          <a:xfrm flipH="false" flipV="false" rot="0">
            <a:off x="14097000" y="6486525"/>
            <a:ext cx="2667000" cy="847725"/>
          </a:xfrm>
          <a:custGeom>
            <a:avLst/>
            <a:gdLst/>
            <a:ahLst/>
            <a:cxnLst/>
            <a:rect r="r" b="b" t="t" l="l"/>
            <a:pathLst>
              <a:path h="847725" w="2667000">
                <a:moveTo>
                  <a:pt x="0" y="0"/>
                </a:moveTo>
                <a:lnTo>
                  <a:pt x="2667000" y="0"/>
                </a:lnTo>
                <a:lnTo>
                  <a:pt x="2667000" y="847725"/>
                </a:lnTo>
                <a:lnTo>
                  <a:pt x="0" y="847725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16059129" y="-28586"/>
            <a:ext cx="2228871" cy="2228871"/>
          </a:xfrm>
          <a:custGeom>
            <a:avLst/>
            <a:gdLst/>
            <a:ahLst/>
            <a:cxnLst/>
            <a:rect r="r" b="b" t="t" l="l"/>
            <a:pathLst>
              <a:path h="2228871" w="2228871">
                <a:moveTo>
                  <a:pt x="0" y="0"/>
                </a:moveTo>
                <a:lnTo>
                  <a:pt x="2228871" y="0"/>
                </a:lnTo>
                <a:lnTo>
                  <a:pt x="2228871" y="2228872"/>
                </a:lnTo>
                <a:lnTo>
                  <a:pt x="0" y="2228872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0" t="0" r="0" b="0"/>
            </a:stretch>
          </a:blipFill>
        </p:spPr>
      </p:sp>
      <p:sp>
        <p:nvSpPr>
          <p:cNvPr name="TextBox 15" id="15"/>
          <p:cNvSpPr txBox="true"/>
          <p:nvPr/>
        </p:nvSpPr>
        <p:spPr>
          <a:xfrm rot="0">
            <a:off x="914400" y="1162050"/>
            <a:ext cx="13525500" cy="6404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202"/>
              </a:lnSpc>
            </a:pPr>
            <a:r>
              <a:rPr lang="en-US" b="true" sz="5100" spc="-178">
                <a:solidFill>
                  <a:srgbClr val="F3F0E8"/>
                </a:solidFill>
                <a:latin typeface="Sinar Grotesk Bold"/>
                <a:ea typeface="Sinar Grotesk Bold"/>
                <a:cs typeface="Sinar Grotesk Bold"/>
                <a:sym typeface="Sinar Grotesk Bold"/>
              </a:rPr>
              <a:t>RFID Workflow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914400" y="9734550"/>
            <a:ext cx="6667500" cy="2200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87"/>
              </a:lnSpc>
            </a:pPr>
            <a:r>
              <a:rPr lang="en-US" sz="1350" spc="108">
                <a:solidFill>
                  <a:srgbClr val="94A7AA"/>
                </a:solidFill>
                <a:latin typeface="IBM Plex Mono"/>
                <a:ea typeface="IBM Plex Mono"/>
                <a:cs typeface="IBM Plex Mono"/>
                <a:sym typeface="IBM Plex Mono"/>
              </a:rPr>
              <a:t>RFID × DBMS  /  LIBRARY MANAGEMENT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914400" y="3067050"/>
            <a:ext cx="2324100" cy="4939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064"/>
              </a:lnSpc>
            </a:pPr>
            <a:r>
              <a:rPr lang="en-US" b="true" sz="2025" spc="-69">
                <a:solidFill>
                  <a:srgbClr val="F3F0E8"/>
                </a:solidFill>
                <a:latin typeface="Sinar Grotesk Bold"/>
                <a:ea typeface="Sinar Grotesk Bold"/>
                <a:cs typeface="Sinar Grotesk Bold"/>
                <a:sym typeface="Sinar Grotesk Bold"/>
              </a:rPr>
              <a:t>1</a:t>
            </a:r>
          </a:p>
          <a:p>
            <a:pPr algn="ctr">
              <a:lnSpc>
                <a:spcPts val="2064"/>
              </a:lnSpc>
            </a:pPr>
            <a:r>
              <a:rPr lang="en-US" b="true" sz="2025" spc="-69">
                <a:solidFill>
                  <a:srgbClr val="F3F0E8"/>
                </a:solidFill>
                <a:latin typeface="Sinar Grotesk Bold"/>
                <a:ea typeface="Sinar Grotesk Bold"/>
                <a:cs typeface="Sinar Grotesk Bold"/>
                <a:sym typeface="Sinar Grotesk Bold"/>
              </a:rPr>
              <a:t>Assign unique tag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3657600" y="3067050"/>
            <a:ext cx="2324100" cy="4939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064"/>
              </a:lnSpc>
            </a:pPr>
            <a:r>
              <a:rPr lang="en-US" b="true" sz="2025" spc="-69">
                <a:solidFill>
                  <a:srgbClr val="F3F0E8"/>
                </a:solidFill>
                <a:latin typeface="Sinar Grotesk Bold"/>
                <a:ea typeface="Sinar Grotesk Bold"/>
                <a:cs typeface="Sinar Grotesk Bold"/>
                <a:sym typeface="Sinar Grotesk Bold"/>
              </a:rPr>
              <a:t>2</a:t>
            </a:r>
          </a:p>
          <a:p>
            <a:pPr algn="ctr">
              <a:lnSpc>
                <a:spcPts val="2064"/>
              </a:lnSpc>
            </a:pPr>
            <a:r>
              <a:rPr lang="en-US" b="true" sz="2025" spc="-69">
                <a:solidFill>
                  <a:srgbClr val="F3F0E8"/>
                </a:solidFill>
                <a:latin typeface="Sinar Grotesk Bold"/>
                <a:ea typeface="Sinar Grotesk Bold"/>
                <a:cs typeface="Sinar Grotesk Bold"/>
                <a:sym typeface="Sinar Grotesk Bold"/>
              </a:rPr>
              <a:t>Scan with reader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6400800" y="3033712"/>
            <a:ext cx="2324100" cy="4857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11"/>
              </a:lnSpc>
            </a:pPr>
            <a:r>
              <a:rPr lang="en-US" b="true" sz="1875" spc="-65">
                <a:solidFill>
                  <a:srgbClr val="F3F0E8"/>
                </a:solidFill>
                <a:latin typeface="Sinar Grotesk Bold"/>
                <a:ea typeface="Sinar Grotesk Bold"/>
                <a:cs typeface="Sinar Grotesk Bold"/>
                <a:sym typeface="Sinar Grotesk Bold"/>
              </a:rPr>
              <a:t>3</a:t>
            </a:r>
          </a:p>
          <a:p>
            <a:pPr algn="ctr">
              <a:lnSpc>
                <a:spcPts val="1911"/>
              </a:lnSpc>
            </a:pPr>
            <a:r>
              <a:rPr lang="en-US" b="true" sz="1875" spc="-65">
                <a:solidFill>
                  <a:srgbClr val="F3F0E8"/>
                </a:solidFill>
                <a:latin typeface="Sinar Grotesk Bold"/>
                <a:ea typeface="Sinar Grotesk Bold"/>
                <a:cs typeface="Sinar Grotesk Bold"/>
                <a:sym typeface="Sinar Grotesk Bold"/>
              </a:rPr>
              <a:t>Retrieve RFID number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9144000" y="3067050"/>
            <a:ext cx="2324100" cy="4939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064"/>
              </a:lnSpc>
            </a:pPr>
            <a:r>
              <a:rPr lang="en-US" b="true" sz="2025" spc="-69">
                <a:solidFill>
                  <a:srgbClr val="F3F0E8"/>
                </a:solidFill>
                <a:latin typeface="Sinar Grotesk Bold"/>
                <a:ea typeface="Sinar Grotesk Bold"/>
                <a:cs typeface="Sinar Grotesk Bold"/>
                <a:sym typeface="Sinar Grotesk Bold"/>
              </a:rPr>
              <a:t>4</a:t>
            </a:r>
          </a:p>
          <a:p>
            <a:pPr algn="ctr">
              <a:lnSpc>
                <a:spcPts val="2064"/>
              </a:lnSpc>
            </a:pPr>
            <a:r>
              <a:rPr lang="en-US" b="true" sz="2025" spc="-69">
                <a:solidFill>
                  <a:srgbClr val="F3F0E8"/>
                </a:solidFill>
                <a:latin typeface="Sinar Grotesk Bold"/>
                <a:ea typeface="Sinar Grotesk Bold"/>
                <a:cs typeface="Sinar Grotesk Bold"/>
                <a:sym typeface="Sinar Grotesk Bold"/>
              </a:rPr>
              <a:t>Query book record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1887200" y="3067050"/>
            <a:ext cx="2324100" cy="4939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064"/>
              </a:lnSpc>
            </a:pPr>
            <a:r>
              <a:rPr lang="en-US" b="true" sz="2025" spc="-69">
                <a:solidFill>
                  <a:srgbClr val="F3F0E8"/>
                </a:solidFill>
                <a:latin typeface="Sinar Grotesk Bold"/>
                <a:ea typeface="Sinar Grotesk Bold"/>
                <a:cs typeface="Sinar Grotesk Bold"/>
                <a:sym typeface="Sinar Grotesk Bold"/>
              </a:rPr>
              <a:t>5</a:t>
            </a:r>
          </a:p>
          <a:p>
            <a:pPr algn="ctr">
              <a:lnSpc>
                <a:spcPts val="2064"/>
              </a:lnSpc>
            </a:pPr>
            <a:r>
              <a:rPr lang="en-US" b="true" sz="2025" spc="-69">
                <a:solidFill>
                  <a:srgbClr val="F3F0E8"/>
                </a:solidFill>
                <a:latin typeface="Sinar Grotesk Bold"/>
                <a:ea typeface="Sinar Grotesk Bold"/>
                <a:cs typeface="Sinar Grotesk Bold"/>
                <a:sym typeface="Sinar Grotesk Bold"/>
              </a:rPr>
              <a:t>Check availability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4630400" y="3067050"/>
            <a:ext cx="2324100" cy="4939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064"/>
              </a:lnSpc>
            </a:pPr>
            <a:r>
              <a:rPr lang="en-US" b="true" sz="2025" spc="-69">
                <a:solidFill>
                  <a:srgbClr val="F3F0E8"/>
                </a:solidFill>
                <a:latin typeface="Sinar Grotesk Bold"/>
                <a:ea typeface="Sinar Grotesk Bold"/>
                <a:cs typeface="Sinar Grotesk Bold"/>
                <a:sym typeface="Sinar Grotesk Bold"/>
              </a:rPr>
              <a:t>6</a:t>
            </a:r>
          </a:p>
          <a:p>
            <a:pPr algn="ctr">
              <a:lnSpc>
                <a:spcPts val="2064"/>
              </a:lnSpc>
            </a:pPr>
            <a:r>
              <a:rPr lang="en-US" b="true" sz="2025" spc="-69">
                <a:solidFill>
                  <a:srgbClr val="F3F0E8"/>
                </a:solidFill>
                <a:latin typeface="Sinar Grotesk Bold"/>
                <a:ea typeface="Sinar Grotesk Bold"/>
                <a:cs typeface="Sinar Grotesk Bold"/>
                <a:sym typeface="Sinar Grotesk Bold"/>
              </a:rPr>
              <a:t>Record issue / return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6667500" y="6762750"/>
            <a:ext cx="6191250" cy="3318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07"/>
              </a:lnSpc>
            </a:pPr>
            <a:r>
              <a:rPr lang="en-US" b="true" sz="2850" spc="-98">
                <a:solidFill>
                  <a:srgbClr val="F3F0E8"/>
                </a:solidFill>
                <a:latin typeface="Sinar Grotesk Bold"/>
                <a:ea typeface="Sinar Grotesk Bold"/>
                <a:cs typeface="Sinar Grotesk Bold"/>
                <a:sym typeface="Sinar Grotesk Bold"/>
              </a:rPr>
              <a:t>Database Management Systems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4097000" y="6717506"/>
            <a:ext cx="2667000" cy="3096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48"/>
              </a:lnSpc>
            </a:pPr>
            <a:r>
              <a:rPr lang="en-US" b="true" sz="2400" spc="-84">
                <a:solidFill>
                  <a:srgbClr val="081922"/>
                </a:solidFill>
                <a:latin typeface="Sinar Grotesk Bold"/>
                <a:ea typeface="Sinar Grotesk Bold"/>
                <a:cs typeface="Sinar Grotesk Bold"/>
                <a:sym typeface="Sinar Grotesk Bold"/>
              </a:rPr>
              <a:t>AVAILABLE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819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914400" y="497681"/>
            <a:ext cx="857250" cy="2909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50"/>
              </a:lnSpc>
            </a:pPr>
            <a:r>
              <a:rPr lang="en-US" sz="1800">
                <a:solidFill>
                  <a:srgbClr val="20D6C7"/>
                </a:solidFill>
                <a:latin typeface="IBM Plex Mono"/>
                <a:ea typeface="IBM Plex Mono"/>
                <a:cs typeface="IBM Plex Mono"/>
                <a:sym typeface="IBM Plex Mono"/>
              </a:rPr>
              <a:t>11</a:t>
            </a:r>
          </a:p>
        </p:txBody>
      </p:sp>
      <p:sp>
        <p:nvSpPr>
          <p:cNvPr name="Freeform 3" id="3"/>
          <p:cNvSpPr/>
          <p:nvPr/>
        </p:nvSpPr>
        <p:spPr>
          <a:xfrm flipH="false" flipV="false" rot="0">
            <a:off x="914400" y="771525"/>
            <a:ext cx="16459200" cy="47625"/>
          </a:xfrm>
          <a:custGeom>
            <a:avLst/>
            <a:gdLst/>
            <a:ahLst/>
            <a:cxnLst/>
            <a:rect r="r" b="b" t="t" l="l"/>
            <a:pathLst>
              <a:path h="47625" w="16459200">
                <a:moveTo>
                  <a:pt x="0" y="0"/>
                </a:moveTo>
                <a:lnTo>
                  <a:pt x="16459200" y="0"/>
                </a:lnTo>
                <a:lnTo>
                  <a:pt x="16459200" y="47625"/>
                </a:lnTo>
                <a:lnTo>
                  <a:pt x="0" y="4762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914400" y="2686050"/>
            <a:ext cx="3714750" cy="2171700"/>
          </a:xfrm>
          <a:custGeom>
            <a:avLst/>
            <a:gdLst/>
            <a:ahLst/>
            <a:cxnLst/>
            <a:rect r="r" b="b" t="t" l="l"/>
            <a:pathLst>
              <a:path h="2171700" w="3714750">
                <a:moveTo>
                  <a:pt x="0" y="0"/>
                </a:moveTo>
                <a:lnTo>
                  <a:pt x="3714750" y="0"/>
                </a:lnTo>
                <a:lnTo>
                  <a:pt x="3714750" y="2171700"/>
                </a:lnTo>
                <a:lnTo>
                  <a:pt x="0" y="21717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5010150" y="2686050"/>
            <a:ext cx="3714750" cy="2171700"/>
          </a:xfrm>
          <a:custGeom>
            <a:avLst/>
            <a:gdLst/>
            <a:ahLst/>
            <a:cxnLst/>
            <a:rect r="r" b="b" t="t" l="l"/>
            <a:pathLst>
              <a:path h="2171700" w="3714750">
                <a:moveTo>
                  <a:pt x="0" y="0"/>
                </a:moveTo>
                <a:lnTo>
                  <a:pt x="3714750" y="0"/>
                </a:lnTo>
                <a:lnTo>
                  <a:pt x="3714750" y="2171700"/>
                </a:lnTo>
                <a:lnTo>
                  <a:pt x="0" y="21717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9105900" y="2686050"/>
            <a:ext cx="3714750" cy="2171700"/>
          </a:xfrm>
          <a:custGeom>
            <a:avLst/>
            <a:gdLst/>
            <a:ahLst/>
            <a:cxnLst/>
            <a:rect r="r" b="b" t="t" l="l"/>
            <a:pathLst>
              <a:path h="2171700" w="3714750">
                <a:moveTo>
                  <a:pt x="0" y="0"/>
                </a:moveTo>
                <a:lnTo>
                  <a:pt x="3714750" y="0"/>
                </a:lnTo>
                <a:lnTo>
                  <a:pt x="3714750" y="2171700"/>
                </a:lnTo>
                <a:lnTo>
                  <a:pt x="0" y="21717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3201650" y="2686050"/>
            <a:ext cx="3714750" cy="2171700"/>
          </a:xfrm>
          <a:custGeom>
            <a:avLst/>
            <a:gdLst/>
            <a:ahLst/>
            <a:cxnLst/>
            <a:rect r="r" b="b" t="t" l="l"/>
            <a:pathLst>
              <a:path h="2171700" w="3714750">
                <a:moveTo>
                  <a:pt x="0" y="0"/>
                </a:moveTo>
                <a:lnTo>
                  <a:pt x="3714750" y="0"/>
                </a:lnTo>
                <a:lnTo>
                  <a:pt x="3714750" y="2171700"/>
                </a:lnTo>
                <a:lnTo>
                  <a:pt x="0" y="21717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914400" y="5448300"/>
            <a:ext cx="3714750" cy="2171700"/>
          </a:xfrm>
          <a:custGeom>
            <a:avLst/>
            <a:gdLst/>
            <a:ahLst/>
            <a:cxnLst/>
            <a:rect r="r" b="b" t="t" l="l"/>
            <a:pathLst>
              <a:path h="2171700" w="3714750">
                <a:moveTo>
                  <a:pt x="0" y="0"/>
                </a:moveTo>
                <a:lnTo>
                  <a:pt x="3714750" y="0"/>
                </a:lnTo>
                <a:lnTo>
                  <a:pt x="3714750" y="2171700"/>
                </a:lnTo>
                <a:lnTo>
                  <a:pt x="0" y="21717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5010150" y="5448300"/>
            <a:ext cx="3714750" cy="2171700"/>
          </a:xfrm>
          <a:custGeom>
            <a:avLst/>
            <a:gdLst/>
            <a:ahLst/>
            <a:cxnLst/>
            <a:rect r="r" b="b" t="t" l="l"/>
            <a:pathLst>
              <a:path h="2171700" w="3714750">
                <a:moveTo>
                  <a:pt x="0" y="0"/>
                </a:moveTo>
                <a:lnTo>
                  <a:pt x="3714750" y="0"/>
                </a:lnTo>
                <a:lnTo>
                  <a:pt x="3714750" y="2171700"/>
                </a:lnTo>
                <a:lnTo>
                  <a:pt x="0" y="21717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9105900" y="5448300"/>
            <a:ext cx="3714750" cy="2171700"/>
          </a:xfrm>
          <a:custGeom>
            <a:avLst/>
            <a:gdLst/>
            <a:ahLst/>
            <a:cxnLst/>
            <a:rect r="r" b="b" t="t" l="l"/>
            <a:pathLst>
              <a:path h="2171700" w="3714750">
                <a:moveTo>
                  <a:pt x="0" y="0"/>
                </a:moveTo>
                <a:lnTo>
                  <a:pt x="3714750" y="0"/>
                </a:lnTo>
                <a:lnTo>
                  <a:pt x="3714750" y="2171700"/>
                </a:lnTo>
                <a:lnTo>
                  <a:pt x="0" y="217170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16176561" y="8175561"/>
            <a:ext cx="2111439" cy="2111439"/>
          </a:xfrm>
          <a:custGeom>
            <a:avLst/>
            <a:gdLst/>
            <a:ahLst/>
            <a:cxnLst/>
            <a:rect r="r" b="b" t="t" l="l"/>
            <a:pathLst>
              <a:path h="2111439" w="2111439">
                <a:moveTo>
                  <a:pt x="0" y="0"/>
                </a:moveTo>
                <a:lnTo>
                  <a:pt x="2111439" y="0"/>
                </a:lnTo>
                <a:lnTo>
                  <a:pt x="2111439" y="2111439"/>
                </a:lnTo>
                <a:lnTo>
                  <a:pt x="0" y="2111439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914400" y="1162050"/>
            <a:ext cx="13525500" cy="6404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202"/>
              </a:lnSpc>
            </a:pPr>
            <a:r>
              <a:rPr lang="en-US" b="true" sz="5100" spc="-178">
                <a:solidFill>
                  <a:srgbClr val="F3F0E8"/>
                </a:solidFill>
                <a:latin typeface="Sinar Grotesk Bold"/>
                <a:ea typeface="Sinar Grotesk Bold"/>
                <a:cs typeface="Sinar Grotesk Bold"/>
                <a:sym typeface="Sinar Grotesk Bold"/>
              </a:rPr>
              <a:t>Advantages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914400" y="9734550"/>
            <a:ext cx="6667500" cy="2200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87"/>
              </a:lnSpc>
            </a:pPr>
            <a:r>
              <a:rPr lang="en-US" sz="1350" spc="108">
                <a:solidFill>
                  <a:srgbClr val="94A7AA"/>
                </a:solidFill>
                <a:latin typeface="IBM Plex Mono"/>
                <a:ea typeface="IBM Plex Mono"/>
                <a:cs typeface="IBM Plex Mono"/>
                <a:sym typeface="IBM Plex Mono"/>
              </a:rPr>
              <a:t>RFID × DBMS  /  LIBRARY MANAGEMENT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181100" y="2926556"/>
            <a:ext cx="666750" cy="2633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62"/>
              </a:lnSpc>
            </a:pPr>
            <a:r>
              <a:rPr lang="en-US" sz="1650">
                <a:solidFill>
                  <a:srgbClr val="20D6C7"/>
                </a:solidFill>
                <a:latin typeface="IBM Plex Mono"/>
                <a:ea typeface="IBM Plex Mono"/>
                <a:cs typeface="IBM Plex Mono"/>
                <a:sym typeface="IBM Plex Mono"/>
              </a:rPr>
              <a:t>01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181100" y="3495675"/>
            <a:ext cx="3238500" cy="3154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01"/>
              </a:lnSpc>
            </a:pPr>
            <a:r>
              <a:rPr lang="en-US" b="true" sz="2550" spc="-89">
                <a:solidFill>
                  <a:srgbClr val="F3F0E8"/>
                </a:solidFill>
                <a:latin typeface="Sinar Grotesk Bold"/>
                <a:ea typeface="Sinar Grotesk Bold"/>
                <a:cs typeface="Sinar Grotesk Bold"/>
                <a:sym typeface="Sinar Grotesk Bold"/>
              </a:rPr>
              <a:t>FASTER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181100" y="3919538"/>
            <a:ext cx="3238500" cy="2927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77"/>
              </a:lnSpc>
            </a:pPr>
            <a:r>
              <a:rPr lang="en-US" sz="1725">
                <a:solidFill>
                  <a:srgbClr val="94A7AA"/>
                </a:solidFill>
                <a:latin typeface="IBM Plex Sans"/>
                <a:ea typeface="IBM Plex Sans"/>
                <a:cs typeface="IBM Plex Sans"/>
                <a:sym typeface="IBM Plex Sans"/>
              </a:rPr>
              <a:t>Issue and return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5276850" y="2926556"/>
            <a:ext cx="666750" cy="2633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62"/>
              </a:lnSpc>
            </a:pPr>
            <a:r>
              <a:rPr lang="en-US" sz="1650">
                <a:solidFill>
                  <a:srgbClr val="20D6C7"/>
                </a:solidFill>
                <a:latin typeface="IBM Plex Mono"/>
                <a:ea typeface="IBM Plex Mono"/>
                <a:cs typeface="IBM Plex Mono"/>
                <a:sym typeface="IBM Plex Mono"/>
              </a:rPr>
              <a:t>02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5276850" y="3495675"/>
            <a:ext cx="3238500" cy="3154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01"/>
              </a:lnSpc>
            </a:pPr>
            <a:r>
              <a:rPr lang="en-US" b="true" sz="2550" spc="-89">
                <a:solidFill>
                  <a:srgbClr val="F3F0E8"/>
                </a:solidFill>
                <a:latin typeface="Sinar Grotesk Bold"/>
                <a:ea typeface="Sinar Grotesk Bold"/>
                <a:cs typeface="Sinar Grotesk Bold"/>
                <a:sym typeface="Sinar Grotesk Bold"/>
              </a:rPr>
              <a:t>ACCURATE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5276850" y="3919538"/>
            <a:ext cx="3238500" cy="2927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77"/>
              </a:lnSpc>
            </a:pPr>
            <a:r>
              <a:rPr lang="en-US" sz="1725">
                <a:solidFill>
                  <a:srgbClr val="94A7AA"/>
                </a:solidFill>
                <a:latin typeface="IBM Plex Sans"/>
                <a:ea typeface="IBM Plex Sans"/>
                <a:cs typeface="IBM Plex Sans"/>
                <a:sym typeface="IBM Plex Sans"/>
              </a:rPr>
              <a:t>Automatic identification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9372600" y="2926556"/>
            <a:ext cx="666750" cy="2633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62"/>
              </a:lnSpc>
            </a:pPr>
            <a:r>
              <a:rPr lang="en-US" sz="1650">
                <a:solidFill>
                  <a:srgbClr val="20D6C7"/>
                </a:solidFill>
                <a:latin typeface="IBM Plex Mono"/>
                <a:ea typeface="IBM Plex Mono"/>
                <a:cs typeface="IBM Plex Mono"/>
                <a:sym typeface="IBM Plex Mono"/>
              </a:rPr>
              <a:t>03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9372600" y="3495675"/>
            <a:ext cx="3238500" cy="3154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01"/>
              </a:lnSpc>
            </a:pPr>
            <a:r>
              <a:rPr lang="en-US" b="true" sz="2550" spc="-89">
                <a:solidFill>
                  <a:srgbClr val="F3F0E8"/>
                </a:solidFill>
                <a:latin typeface="Sinar Grotesk Bold"/>
                <a:ea typeface="Sinar Grotesk Bold"/>
                <a:cs typeface="Sinar Grotesk Bold"/>
                <a:sym typeface="Sinar Grotesk Bold"/>
              </a:rPr>
              <a:t>REAL-TIME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9372600" y="3919538"/>
            <a:ext cx="3238500" cy="2927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77"/>
              </a:lnSpc>
            </a:pPr>
            <a:r>
              <a:rPr lang="en-US" sz="1725">
                <a:solidFill>
                  <a:srgbClr val="94A7AA"/>
                </a:solidFill>
                <a:latin typeface="IBM Plex Sans"/>
                <a:ea typeface="IBM Plex Sans"/>
                <a:cs typeface="IBM Plex Sans"/>
                <a:sym typeface="IBM Plex Sans"/>
              </a:rPr>
              <a:t>Inventory availability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3468350" y="2926556"/>
            <a:ext cx="666750" cy="2633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62"/>
              </a:lnSpc>
            </a:pPr>
            <a:r>
              <a:rPr lang="en-US" sz="1650">
                <a:solidFill>
                  <a:srgbClr val="20D6C7"/>
                </a:solidFill>
                <a:latin typeface="IBM Plex Mono"/>
                <a:ea typeface="IBM Plex Mono"/>
                <a:cs typeface="IBM Plex Mono"/>
                <a:sym typeface="IBM Plex Mono"/>
              </a:rPr>
              <a:t>04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3468350" y="3495675"/>
            <a:ext cx="3238500" cy="3154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01"/>
              </a:lnSpc>
            </a:pPr>
            <a:r>
              <a:rPr lang="en-US" b="true" sz="2550" spc="-89">
                <a:solidFill>
                  <a:srgbClr val="F3F0E8"/>
                </a:solidFill>
                <a:latin typeface="Sinar Grotesk Bold"/>
                <a:ea typeface="Sinar Grotesk Bold"/>
                <a:cs typeface="Sinar Grotesk Bold"/>
                <a:sym typeface="Sinar Grotesk Bold"/>
              </a:rPr>
              <a:t>LEANER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13468350" y="3919538"/>
            <a:ext cx="3238500" cy="2927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77"/>
              </a:lnSpc>
            </a:pPr>
            <a:r>
              <a:rPr lang="en-US" sz="1725">
                <a:solidFill>
                  <a:srgbClr val="94A7AA"/>
                </a:solidFill>
                <a:latin typeface="IBM Plex Sans"/>
                <a:ea typeface="IBM Plex Sans"/>
                <a:cs typeface="IBM Plex Sans"/>
                <a:sym typeface="IBM Plex Sans"/>
              </a:rPr>
              <a:t>Less work, fewer errors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1181100" y="5688806"/>
            <a:ext cx="666750" cy="2633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62"/>
              </a:lnSpc>
            </a:pPr>
            <a:r>
              <a:rPr lang="en-US" sz="1650">
                <a:solidFill>
                  <a:srgbClr val="20D6C7"/>
                </a:solidFill>
                <a:latin typeface="IBM Plex Mono"/>
                <a:ea typeface="IBM Plex Mono"/>
                <a:cs typeface="IBM Plex Mono"/>
                <a:sym typeface="IBM Plex Mono"/>
              </a:rPr>
              <a:t>05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1181100" y="6257925"/>
            <a:ext cx="3238500" cy="3154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01"/>
              </a:lnSpc>
            </a:pPr>
            <a:r>
              <a:rPr lang="en-US" b="true" sz="2550" spc="-89">
                <a:solidFill>
                  <a:srgbClr val="F3F0E8"/>
                </a:solidFill>
                <a:latin typeface="Sinar Grotesk Bold"/>
                <a:ea typeface="Sinar Grotesk Bold"/>
                <a:cs typeface="Sinar Grotesk Bold"/>
                <a:sym typeface="Sinar Grotesk Bold"/>
              </a:rPr>
              <a:t>SAFER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1181100" y="6681788"/>
            <a:ext cx="3238500" cy="2927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77"/>
              </a:lnSpc>
            </a:pPr>
            <a:r>
              <a:rPr lang="en-US" sz="1725">
                <a:solidFill>
                  <a:srgbClr val="94A7AA"/>
                </a:solidFill>
                <a:latin typeface="IBM Plex Sans"/>
                <a:ea typeface="IBM Plex Sans"/>
                <a:cs typeface="IBM Plex Sans"/>
                <a:sym typeface="IBM Plex Sans"/>
              </a:rPr>
              <a:t>Fewer lost books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5276850" y="5688806"/>
            <a:ext cx="666750" cy="2633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62"/>
              </a:lnSpc>
            </a:pPr>
            <a:r>
              <a:rPr lang="en-US" sz="1650">
                <a:solidFill>
                  <a:srgbClr val="20D6C7"/>
                </a:solidFill>
                <a:latin typeface="IBM Plex Mono"/>
                <a:ea typeface="IBM Plex Mono"/>
                <a:cs typeface="IBM Plex Mono"/>
                <a:sym typeface="IBM Plex Mono"/>
              </a:rPr>
              <a:t>06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5276850" y="6257925"/>
            <a:ext cx="3238500" cy="3154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01"/>
              </a:lnSpc>
            </a:pPr>
            <a:r>
              <a:rPr lang="en-US" b="true" sz="2550" spc="-89">
                <a:solidFill>
                  <a:srgbClr val="F3F0E8"/>
                </a:solidFill>
                <a:latin typeface="Sinar Grotesk Bold"/>
                <a:ea typeface="Sinar Grotesk Bold"/>
                <a:cs typeface="Sinar Grotesk Bold"/>
                <a:sym typeface="Sinar Grotesk Bold"/>
              </a:rPr>
              <a:t>CLEARER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5276850" y="6681788"/>
            <a:ext cx="3238500" cy="2927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77"/>
              </a:lnSpc>
            </a:pPr>
            <a:r>
              <a:rPr lang="en-US" sz="1725">
                <a:solidFill>
                  <a:srgbClr val="94A7AA"/>
                </a:solidFill>
                <a:latin typeface="IBM Plex Sans"/>
                <a:ea typeface="IBM Plex Sans"/>
                <a:cs typeface="IBM Plex Sans"/>
                <a:sym typeface="IBM Plex Sans"/>
              </a:rPr>
              <a:t>Instant reports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9372600" y="5688806"/>
            <a:ext cx="666750" cy="2633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62"/>
              </a:lnSpc>
            </a:pPr>
            <a:r>
              <a:rPr lang="en-US" sz="1650">
                <a:solidFill>
                  <a:srgbClr val="20D6C7"/>
                </a:solidFill>
                <a:latin typeface="IBM Plex Mono"/>
                <a:ea typeface="IBM Plex Mono"/>
                <a:cs typeface="IBM Plex Mono"/>
                <a:sym typeface="IBM Plex Mono"/>
              </a:rPr>
              <a:t>07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9372600" y="6257925"/>
            <a:ext cx="3238500" cy="3154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01"/>
              </a:lnSpc>
            </a:pPr>
            <a:r>
              <a:rPr lang="en-US" b="true" sz="2550" spc="-89">
                <a:solidFill>
                  <a:srgbClr val="F3F0E8"/>
                </a:solidFill>
                <a:latin typeface="Sinar Grotesk Bold"/>
                <a:ea typeface="Sinar Grotesk Bold"/>
                <a:cs typeface="Sinar Grotesk Bold"/>
                <a:sym typeface="Sinar Grotesk Bold"/>
              </a:rPr>
              <a:t>CENTRAL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9372600" y="6681788"/>
            <a:ext cx="3238500" cy="2927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77"/>
              </a:lnSpc>
            </a:pPr>
            <a:r>
              <a:rPr lang="en-US" sz="1725">
                <a:solidFill>
                  <a:srgbClr val="94A7AA"/>
                </a:solidFill>
                <a:latin typeface="IBM Plex Sans"/>
                <a:ea typeface="IBM Plex Sans"/>
                <a:cs typeface="IBM Plex Sans"/>
                <a:sym typeface="IBM Plex Sans"/>
              </a:rPr>
              <a:t>One shared database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819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914400" y="497681"/>
            <a:ext cx="857250" cy="2909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50"/>
              </a:lnSpc>
            </a:pPr>
            <a:r>
              <a:rPr lang="en-US" sz="1800">
                <a:solidFill>
                  <a:srgbClr val="20D6C7"/>
                </a:solidFill>
                <a:latin typeface="IBM Plex Mono"/>
                <a:ea typeface="IBM Plex Mono"/>
                <a:cs typeface="IBM Plex Mono"/>
                <a:sym typeface="IBM Plex Mono"/>
              </a:rPr>
              <a:t>07</a:t>
            </a:r>
          </a:p>
        </p:txBody>
      </p:sp>
      <p:sp>
        <p:nvSpPr>
          <p:cNvPr name="Freeform 3" id="3"/>
          <p:cNvSpPr/>
          <p:nvPr/>
        </p:nvSpPr>
        <p:spPr>
          <a:xfrm flipH="false" flipV="false" rot="0">
            <a:off x="914400" y="771525"/>
            <a:ext cx="16459200" cy="47625"/>
          </a:xfrm>
          <a:custGeom>
            <a:avLst/>
            <a:gdLst/>
            <a:ahLst/>
            <a:cxnLst/>
            <a:rect r="r" b="b" t="t" l="l"/>
            <a:pathLst>
              <a:path h="47625" w="16459200">
                <a:moveTo>
                  <a:pt x="0" y="0"/>
                </a:moveTo>
                <a:lnTo>
                  <a:pt x="16459200" y="0"/>
                </a:lnTo>
                <a:lnTo>
                  <a:pt x="16459200" y="47625"/>
                </a:lnTo>
                <a:lnTo>
                  <a:pt x="0" y="4762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914400" y="2543175"/>
            <a:ext cx="7715250" cy="1266825"/>
          </a:xfrm>
          <a:custGeom>
            <a:avLst/>
            <a:gdLst/>
            <a:ahLst/>
            <a:cxnLst/>
            <a:rect r="r" b="b" t="t" l="l"/>
            <a:pathLst>
              <a:path h="1266825" w="7715250">
                <a:moveTo>
                  <a:pt x="0" y="0"/>
                </a:moveTo>
                <a:lnTo>
                  <a:pt x="7715250" y="0"/>
                </a:lnTo>
                <a:lnTo>
                  <a:pt x="7715250" y="1266825"/>
                </a:lnTo>
                <a:lnTo>
                  <a:pt x="0" y="126682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9201150" y="2543175"/>
            <a:ext cx="7715250" cy="1266825"/>
          </a:xfrm>
          <a:custGeom>
            <a:avLst/>
            <a:gdLst/>
            <a:ahLst/>
            <a:cxnLst/>
            <a:rect r="r" b="b" t="t" l="l"/>
            <a:pathLst>
              <a:path h="1266825" w="7715250">
                <a:moveTo>
                  <a:pt x="0" y="0"/>
                </a:moveTo>
                <a:lnTo>
                  <a:pt x="7715250" y="0"/>
                </a:lnTo>
                <a:lnTo>
                  <a:pt x="7715250" y="1266825"/>
                </a:lnTo>
                <a:lnTo>
                  <a:pt x="0" y="126682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914400" y="4162425"/>
            <a:ext cx="7715250" cy="1266825"/>
          </a:xfrm>
          <a:custGeom>
            <a:avLst/>
            <a:gdLst/>
            <a:ahLst/>
            <a:cxnLst/>
            <a:rect r="r" b="b" t="t" l="l"/>
            <a:pathLst>
              <a:path h="1266825" w="7715250">
                <a:moveTo>
                  <a:pt x="0" y="0"/>
                </a:moveTo>
                <a:lnTo>
                  <a:pt x="7715250" y="0"/>
                </a:lnTo>
                <a:lnTo>
                  <a:pt x="7715250" y="1266825"/>
                </a:lnTo>
                <a:lnTo>
                  <a:pt x="0" y="126682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9201150" y="4162425"/>
            <a:ext cx="7715250" cy="1266825"/>
          </a:xfrm>
          <a:custGeom>
            <a:avLst/>
            <a:gdLst/>
            <a:ahLst/>
            <a:cxnLst/>
            <a:rect r="r" b="b" t="t" l="l"/>
            <a:pathLst>
              <a:path h="1266825" w="7715250">
                <a:moveTo>
                  <a:pt x="0" y="0"/>
                </a:moveTo>
                <a:lnTo>
                  <a:pt x="7715250" y="0"/>
                </a:lnTo>
                <a:lnTo>
                  <a:pt x="7715250" y="1266825"/>
                </a:lnTo>
                <a:lnTo>
                  <a:pt x="0" y="126682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914400" y="5781675"/>
            <a:ext cx="7715250" cy="1266825"/>
          </a:xfrm>
          <a:custGeom>
            <a:avLst/>
            <a:gdLst/>
            <a:ahLst/>
            <a:cxnLst/>
            <a:rect r="r" b="b" t="t" l="l"/>
            <a:pathLst>
              <a:path h="1266825" w="7715250">
                <a:moveTo>
                  <a:pt x="0" y="0"/>
                </a:moveTo>
                <a:lnTo>
                  <a:pt x="7715250" y="0"/>
                </a:lnTo>
                <a:lnTo>
                  <a:pt x="7715250" y="1266825"/>
                </a:lnTo>
                <a:lnTo>
                  <a:pt x="0" y="1266825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9201150" y="5781675"/>
            <a:ext cx="7715250" cy="1266825"/>
          </a:xfrm>
          <a:custGeom>
            <a:avLst/>
            <a:gdLst/>
            <a:ahLst/>
            <a:cxnLst/>
            <a:rect r="r" b="b" t="t" l="l"/>
            <a:pathLst>
              <a:path h="1266825" w="7715250">
                <a:moveTo>
                  <a:pt x="0" y="0"/>
                </a:moveTo>
                <a:lnTo>
                  <a:pt x="7715250" y="0"/>
                </a:lnTo>
                <a:lnTo>
                  <a:pt x="7715250" y="1266825"/>
                </a:lnTo>
                <a:lnTo>
                  <a:pt x="0" y="126682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914400" y="7400925"/>
            <a:ext cx="7715250" cy="1266825"/>
          </a:xfrm>
          <a:custGeom>
            <a:avLst/>
            <a:gdLst/>
            <a:ahLst/>
            <a:cxnLst/>
            <a:rect r="r" b="b" t="t" l="l"/>
            <a:pathLst>
              <a:path h="1266825" w="7715250">
                <a:moveTo>
                  <a:pt x="0" y="0"/>
                </a:moveTo>
                <a:lnTo>
                  <a:pt x="7715250" y="0"/>
                </a:lnTo>
                <a:lnTo>
                  <a:pt x="7715250" y="1266825"/>
                </a:lnTo>
                <a:lnTo>
                  <a:pt x="0" y="126682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16070872" y="-79864"/>
            <a:ext cx="2217128" cy="2217128"/>
          </a:xfrm>
          <a:custGeom>
            <a:avLst/>
            <a:gdLst/>
            <a:ahLst/>
            <a:cxnLst/>
            <a:rect r="r" b="b" t="t" l="l"/>
            <a:pathLst>
              <a:path h="2217128" w="2217128">
                <a:moveTo>
                  <a:pt x="0" y="0"/>
                </a:moveTo>
                <a:lnTo>
                  <a:pt x="2217128" y="0"/>
                </a:lnTo>
                <a:lnTo>
                  <a:pt x="2217128" y="2217128"/>
                </a:lnTo>
                <a:lnTo>
                  <a:pt x="0" y="2217128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914400" y="1162050"/>
            <a:ext cx="13525500" cy="6404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202"/>
              </a:lnSpc>
            </a:pPr>
            <a:r>
              <a:rPr lang="en-US" b="true" sz="5100" spc="-178">
                <a:solidFill>
                  <a:srgbClr val="F3F0E8"/>
                </a:solidFill>
                <a:latin typeface="Sinar Grotesk Bold"/>
                <a:ea typeface="Sinar Grotesk Bold"/>
                <a:cs typeface="Sinar Grotesk Bold"/>
                <a:sym typeface="Sinar Grotesk Bold"/>
              </a:rPr>
              <a:t>Database Design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914400" y="9734550"/>
            <a:ext cx="6667500" cy="2200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87"/>
              </a:lnSpc>
            </a:pPr>
            <a:r>
              <a:rPr lang="en-US" sz="1350" spc="108">
                <a:solidFill>
                  <a:srgbClr val="94A7AA"/>
                </a:solidFill>
                <a:latin typeface="IBM Plex Mono"/>
                <a:ea typeface="IBM Plex Mono"/>
                <a:cs typeface="IBM Plex Mono"/>
                <a:sym typeface="IBM Plex Mono"/>
              </a:rPr>
              <a:t>RFID × DBMS  /  LIBRARY MANAGEMENT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219200" y="2857500"/>
            <a:ext cx="7105650" cy="228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75"/>
              </a:lnSpc>
            </a:pPr>
            <a:r>
              <a:rPr lang="en-US" sz="1500" spc="88">
                <a:solidFill>
                  <a:srgbClr val="20D6C7"/>
                </a:solidFill>
                <a:latin typeface="IBM Plex Mono"/>
                <a:ea typeface="IBM Plex Mono"/>
                <a:cs typeface="IBM Plex Mono"/>
                <a:sym typeface="IBM Plex Mono"/>
              </a:rPr>
              <a:t>STUDENT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219200" y="3262312"/>
            <a:ext cx="7105650" cy="3705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70"/>
              </a:lnSpc>
            </a:pPr>
            <a:r>
              <a:rPr lang="en-US" sz="2250">
                <a:solidFill>
                  <a:srgbClr val="F3F0E8"/>
                </a:solidFill>
                <a:latin typeface="IBM Plex Sans"/>
                <a:ea typeface="IBM Plex Sans"/>
                <a:cs typeface="IBM Plex Sans"/>
                <a:sym typeface="IBM Plex Sans"/>
              </a:rPr>
              <a:t>Student_ID · Name · Department · Phone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9505950" y="2857500"/>
            <a:ext cx="7105650" cy="228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75"/>
              </a:lnSpc>
            </a:pPr>
            <a:r>
              <a:rPr lang="en-US" sz="1500" spc="88">
                <a:solidFill>
                  <a:srgbClr val="20D6C7"/>
                </a:solidFill>
                <a:latin typeface="IBM Plex Mono"/>
                <a:ea typeface="IBM Plex Mono"/>
                <a:cs typeface="IBM Plex Mono"/>
                <a:sym typeface="IBM Plex Mono"/>
              </a:rPr>
              <a:t>BOOK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9505950" y="3262312"/>
            <a:ext cx="7105650" cy="3705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70"/>
              </a:lnSpc>
            </a:pPr>
            <a:r>
              <a:rPr lang="en-US" sz="2250">
                <a:solidFill>
                  <a:srgbClr val="F3F0E8"/>
                </a:solidFill>
                <a:latin typeface="IBM Plex Sans"/>
                <a:ea typeface="IBM Plex Sans"/>
                <a:cs typeface="IBM Plex Sans"/>
                <a:sym typeface="IBM Plex Sans"/>
              </a:rPr>
              <a:t>Book_ID · Title · Author · ISBN · Category · RFID_Tag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219200" y="4476750"/>
            <a:ext cx="7105650" cy="228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75"/>
              </a:lnSpc>
            </a:pPr>
            <a:r>
              <a:rPr lang="en-US" sz="1500" spc="88">
                <a:solidFill>
                  <a:srgbClr val="20D6C7"/>
                </a:solidFill>
                <a:latin typeface="IBM Plex Mono"/>
                <a:ea typeface="IBM Plex Mono"/>
                <a:cs typeface="IBM Plex Mono"/>
                <a:sym typeface="IBM Plex Mono"/>
              </a:rPr>
              <a:t>AUTHOR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219200" y="4881562"/>
            <a:ext cx="7105650" cy="3705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70"/>
              </a:lnSpc>
            </a:pPr>
            <a:r>
              <a:rPr lang="en-US" sz="2250">
                <a:solidFill>
                  <a:srgbClr val="F3F0E8"/>
                </a:solidFill>
                <a:latin typeface="IBM Plex Sans"/>
                <a:ea typeface="IBM Plex Sans"/>
                <a:cs typeface="IBM Plex Sans"/>
                <a:sym typeface="IBM Plex Sans"/>
              </a:rPr>
              <a:t>Author_ID · Author_Name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9505950" y="4476750"/>
            <a:ext cx="7105650" cy="228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75"/>
              </a:lnSpc>
            </a:pPr>
            <a:r>
              <a:rPr lang="en-US" sz="1500" spc="88">
                <a:solidFill>
                  <a:srgbClr val="20D6C7"/>
                </a:solidFill>
                <a:latin typeface="IBM Plex Mono"/>
                <a:ea typeface="IBM Plex Mono"/>
                <a:cs typeface="IBM Plex Mono"/>
                <a:sym typeface="IBM Plex Mono"/>
              </a:rPr>
              <a:t>CATEGORY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9505950" y="4881562"/>
            <a:ext cx="7105650" cy="3705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70"/>
              </a:lnSpc>
            </a:pPr>
            <a:r>
              <a:rPr lang="en-US" sz="2250">
                <a:solidFill>
                  <a:srgbClr val="F3F0E8"/>
                </a:solidFill>
                <a:latin typeface="IBM Plex Sans"/>
                <a:ea typeface="IBM Plex Sans"/>
                <a:cs typeface="IBM Plex Sans"/>
                <a:sym typeface="IBM Plex Sans"/>
              </a:rPr>
              <a:t>Category_ID · Category_Name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219200" y="6096000"/>
            <a:ext cx="7105650" cy="228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75"/>
              </a:lnSpc>
            </a:pPr>
            <a:r>
              <a:rPr lang="en-US" sz="1500" spc="88">
                <a:solidFill>
                  <a:srgbClr val="081922"/>
                </a:solidFill>
                <a:latin typeface="IBM Plex Mono"/>
                <a:ea typeface="IBM Plex Mono"/>
                <a:cs typeface="IBM Plex Mono"/>
                <a:sym typeface="IBM Plex Mono"/>
              </a:rPr>
              <a:t>ISSUE_RETURN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219200" y="6500812"/>
            <a:ext cx="7105650" cy="7419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70"/>
              </a:lnSpc>
            </a:pPr>
            <a:r>
              <a:rPr lang="en-US" sz="2250">
                <a:solidFill>
                  <a:srgbClr val="10252E"/>
                </a:solidFill>
                <a:latin typeface="IBM Plex Sans"/>
                <a:ea typeface="IBM Plex Sans"/>
                <a:cs typeface="IBM Plex Sans"/>
                <a:sym typeface="IBM Plex Sans"/>
              </a:rPr>
              <a:t>Transaction_ID · Book_ID · Student_ID · Issue_Date · Return_Date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9505950" y="6096000"/>
            <a:ext cx="7105650" cy="228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75"/>
              </a:lnSpc>
            </a:pPr>
            <a:r>
              <a:rPr lang="en-US" sz="1500" spc="88">
                <a:solidFill>
                  <a:srgbClr val="20D6C7"/>
                </a:solidFill>
                <a:latin typeface="IBM Plex Mono"/>
                <a:ea typeface="IBM Plex Mono"/>
                <a:cs typeface="IBM Plex Mono"/>
                <a:sym typeface="IBM Plex Mono"/>
              </a:rPr>
              <a:t>FINE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9505950" y="6500812"/>
            <a:ext cx="7105650" cy="3705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70"/>
              </a:lnSpc>
            </a:pPr>
            <a:r>
              <a:rPr lang="en-US" sz="2250">
                <a:solidFill>
                  <a:srgbClr val="F3F0E8"/>
                </a:solidFill>
                <a:latin typeface="IBM Plex Sans"/>
                <a:ea typeface="IBM Plex Sans"/>
                <a:cs typeface="IBM Plex Sans"/>
                <a:sym typeface="IBM Plex Sans"/>
              </a:rPr>
              <a:t>Fine_ID · Transaction_ID · Amount · Status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1219200" y="7715250"/>
            <a:ext cx="7105650" cy="228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75"/>
              </a:lnSpc>
            </a:pPr>
            <a:r>
              <a:rPr lang="en-US" sz="1500" spc="88">
                <a:solidFill>
                  <a:srgbClr val="20D6C7"/>
                </a:solidFill>
                <a:latin typeface="IBM Plex Mono"/>
                <a:ea typeface="IBM Plex Mono"/>
                <a:cs typeface="IBM Plex Mono"/>
                <a:sym typeface="IBM Plex Mono"/>
              </a:rPr>
              <a:t>LIBRARIAN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1219200" y="8120062"/>
            <a:ext cx="7105650" cy="3705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70"/>
              </a:lnSpc>
            </a:pPr>
            <a:r>
              <a:rPr lang="en-US" sz="2250">
                <a:solidFill>
                  <a:srgbClr val="F3F0E8"/>
                </a:solidFill>
                <a:latin typeface="IBM Plex Sans"/>
                <a:ea typeface="IBM Plex Sans"/>
                <a:cs typeface="IBM Plex Sans"/>
                <a:sym typeface="IBM Plex Sans"/>
              </a:rPr>
              <a:t>Librarian_ID · Name · Username · Password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3F0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914400" y="497681"/>
            <a:ext cx="857250" cy="2909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50"/>
              </a:lnSpc>
            </a:pPr>
            <a:r>
              <a:rPr lang="en-US" sz="1800">
                <a:solidFill>
                  <a:srgbClr val="20D6C7"/>
                </a:solidFill>
                <a:latin typeface="IBM Plex Mono"/>
                <a:ea typeface="IBM Plex Mono"/>
                <a:cs typeface="IBM Plex Mono"/>
                <a:sym typeface="IBM Plex Mono"/>
              </a:rPr>
              <a:t>10</a:t>
            </a:r>
          </a:p>
        </p:txBody>
      </p:sp>
      <p:sp>
        <p:nvSpPr>
          <p:cNvPr name="Freeform 3" id="3"/>
          <p:cNvSpPr/>
          <p:nvPr/>
        </p:nvSpPr>
        <p:spPr>
          <a:xfrm flipH="false" flipV="false" rot="0">
            <a:off x="914400" y="771525"/>
            <a:ext cx="16459200" cy="47625"/>
          </a:xfrm>
          <a:custGeom>
            <a:avLst/>
            <a:gdLst/>
            <a:ahLst/>
            <a:cxnLst/>
            <a:rect r="r" b="b" t="t" l="l"/>
            <a:pathLst>
              <a:path h="47625" w="16459200">
                <a:moveTo>
                  <a:pt x="0" y="0"/>
                </a:moveTo>
                <a:lnTo>
                  <a:pt x="16459200" y="0"/>
                </a:lnTo>
                <a:lnTo>
                  <a:pt x="16459200" y="47625"/>
                </a:lnTo>
                <a:lnTo>
                  <a:pt x="0" y="4762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914400" y="2686050"/>
            <a:ext cx="7715250" cy="2028825"/>
          </a:xfrm>
          <a:custGeom>
            <a:avLst/>
            <a:gdLst/>
            <a:ahLst/>
            <a:cxnLst/>
            <a:rect r="r" b="b" t="t" l="l"/>
            <a:pathLst>
              <a:path h="2028825" w="7715250">
                <a:moveTo>
                  <a:pt x="0" y="0"/>
                </a:moveTo>
                <a:lnTo>
                  <a:pt x="7715250" y="0"/>
                </a:lnTo>
                <a:lnTo>
                  <a:pt x="7715250" y="2028825"/>
                </a:lnTo>
                <a:lnTo>
                  <a:pt x="0" y="202882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914400" y="5162550"/>
            <a:ext cx="7715250" cy="2028825"/>
          </a:xfrm>
          <a:custGeom>
            <a:avLst/>
            <a:gdLst/>
            <a:ahLst/>
            <a:cxnLst/>
            <a:rect r="r" b="b" t="t" l="l"/>
            <a:pathLst>
              <a:path h="2028825" w="7715250">
                <a:moveTo>
                  <a:pt x="0" y="0"/>
                </a:moveTo>
                <a:lnTo>
                  <a:pt x="7715250" y="0"/>
                </a:lnTo>
                <a:lnTo>
                  <a:pt x="7715250" y="2028825"/>
                </a:lnTo>
                <a:lnTo>
                  <a:pt x="0" y="202882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9201150" y="2686050"/>
            <a:ext cx="7715250" cy="2028825"/>
          </a:xfrm>
          <a:custGeom>
            <a:avLst/>
            <a:gdLst/>
            <a:ahLst/>
            <a:cxnLst/>
            <a:rect r="r" b="b" t="t" l="l"/>
            <a:pathLst>
              <a:path h="2028825" w="7715250">
                <a:moveTo>
                  <a:pt x="0" y="0"/>
                </a:moveTo>
                <a:lnTo>
                  <a:pt x="7715250" y="0"/>
                </a:lnTo>
                <a:lnTo>
                  <a:pt x="7715250" y="2028825"/>
                </a:lnTo>
                <a:lnTo>
                  <a:pt x="0" y="2028825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9201150" y="5162550"/>
            <a:ext cx="7715250" cy="2028825"/>
          </a:xfrm>
          <a:custGeom>
            <a:avLst/>
            <a:gdLst/>
            <a:ahLst/>
            <a:cxnLst/>
            <a:rect r="r" b="b" t="t" l="l"/>
            <a:pathLst>
              <a:path h="2028825" w="7715250">
                <a:moveTo>
                  <a:pt x="0" y="0"/>
                </a:moveTo>
                <a:lnTo>
                  <a:pt x="7715250" y="0"/>
                </a:lnTo>
                <a:lnTo>
                  <a:pt x="7715250" y="2028825"/>
                </a:lnTo>
                <a:lnTo>
                  <a:pt x="0" y="202882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6176561" y="0"/>
            <a:ext cx="2111439" cy="2111439"/>
          </a:xfrm>
          <a:custGeom>
            <a:avLst/>
            <a:gdLst/>
            <a:ahLst/>
            <a:cxnLst/>
            <a:rect r="r" b="b" t="t" l="l"/>
            <a:pathLst>
              <a:path h="2111439" w="2111439">
                <a:moveTo>
                  <a:pt x="0" y="0"/>
                </a:moveTo>
                <a:lnTo>
                  <a:pt x="2111439" y="0"/>
                </a:lnTo>
                <a:lnTo>
                  <a:pt x="2111439" y="2111439"/>
                </a:lnTo>
                <a:lnTo>
                  <a:pt x="0" y="2111439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914400" y="1162050"/>
            <a:ext cx="13525500" cy="6404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202"/>
              </a:lnSpc>
            </a:pPr>
            <a:r>
              <a:rPr lang="en-US" b="true" sz="5100" spc="-178">
                <a:solidFill>
                  <a:srgbClr val="10252E"/>
                </a:solidFill>
                <a:latin typeface="Sinar Grotesk Bold"/>
                <a:ea typeface="Sinar Grotesk Bold"/>
                <a:cs typeface="Sinar Grotesk Bold"/>
                <a:sym typeface="Sinar Grotesk Bold"/>
              </a:rPr>
              <a:t>SQL Operations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914400" y="9734550"/>
            <a:ext cx="6667500" cy="2200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87"/>
              </a:lnSpc>
            </a:pPr>
            <a:r>
              <a:rPr lang="en-US" sz="1350" spc="108">
                <a:solidFill>
                  <a:srgbClr val="61747A"/>
                </a:solidFill>
                <a:latin typeface="IBM Plex Mono"/>
                <a:ea typeface="IBM Plex Mono"/>
                <a:cs typeface="IBM Plex Mono"/>
                <a:sym typeface="IBM Plex Mono"/>
              </a:rPr>
              <a:t>RFID × DBMS  /  LIBRARY MANAGEMENT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914400" y="3048000"/>
            <a:ext cx="7429500" cy="5786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42"/>
              </a:lnSpc>
            </a:pPr>
            <a:r>
              <a:rPr lang="en-US" sz="1875">
                <a:solidFill>
                  <a:srgbClr val="F3F0E8"/>
                </a:solidFill>
                <a:latin typeface="IBM Plex Mono"/>
                <a:ea typeface="IBM Plex Mono"/>
                <a:cs typeface="IBM Plex Mono"/>
                <a:sym typeface="IBM Plex Mono"/>
              </a:rPr>
              <a:t>SELECT * FROM Books</a:t>
            </a:r>
          </a:p>
          <a:p>
            <a:pPr algn="l">
              <a:lnSpc>
                <a:spcPts val="2342"/>
              </a:lnSpc>
            </a:pPr>
            <a:r>
              <a:rPr lang="en-US" sz="1875">
                <a:solidFill>
                  <a:srgbClr val="F3F0E8"/>
                </a:solidFill>
                <a:latin typeface="IBM Plex Mono"/>
                <a:ea typeface="IBM Plex Mono"/>
                <a:cs typeface="IBM Plex Mono"/>
                <a:sym typeface="IBM Plex Mono"/>
              </a:rPr>
              <a:t>WHERE Category = 'Database';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914400" y="5524500"/>
            <a:ext cx="7429500" cy="5786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42"/>
              </a:lnSpc>
            </a:pPr>
            <a:r>
              <a:rPr lang="en-US" sz="1875">
                <a:solidFill>
                  <a:srgbClr val="F3F0E8"/>
                </a:solidFill>
                <a:latin typeface="IBM Plex Mono"/>
                <a:ea typeface="IBM Plex Mono"/>
                <a:cs typeface="IBM Plex Mono"/>
                <a:sym typeface="IBM Plex Mono"/>
              </a:rPr>
              <a:t>SELECT * FROM Issue_Return</a:t>
            </a:r>
          </a:p>
          <a:p>
            <a:pPr algn="l">
              <a:lnSpc>
                <a:spcPts val="2342"/>
              </a:lnSpc>
            </a:pPr>
            <a:r>
              <a:rPr lang="en-US" sz="1875">
                <a:solidFill>
                  <a:srgbClr val="F3F0E8"/>
                </a:solidFill>
                <a:latin typeface="IBM Plex Mono"/>
                <a:ea typeface="IBM Plex Mono"/>
                <a:cs typeface="IBM Plex Mono"/>
                <a:sym typeface="IBM Plex Mono"/>
              </a:rPr>
              <a:t>WHERE Return_Date IS NULL;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9201150" y="3048000"/>
            <a:ext cx="7429500" cy="5786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42"/>
              </a:lnSpc>
            </a:pPr>
            <a:r>
              <a:rPr lang="en-US" sz="1875">
                <a:solidFill>
                  <a:srgbClr val="081922"/>
                </a:solidFill>
                <a:latin typeface="IBM Plex Mono"/>
                <a:ea typeface="IBM Plex Mono"/>
                <a:cs typeface="IBM Plex Mono"/>
                <a:sym typeface="IBM Plex Mono"/>
              </a:rPr>
              <a:t>UPDATE Books SET Status = 'Issued'</a:t>
            </a:r>
          </a:p>
          <a:p>
            <a:pPr algn="l">
              <a:lnSpc>
                <a:spcPts val="2342"/>
              </a:lnSpc>
            </a:pPr>
            <a:r>
              <a:rPr lang="en-US" sz="1875">
                <a:solidFill>
                  <a:srgbClr val="081922"/>
                </a:solidFill>
                <a:latin typeface="IBM Plex Mono"/>
                <a:ea typeface="IBM Plex Mono"/>
                <a:cs typeface="IBM Plex Mono"/>
                <a:sym typeface="IBM Plex Mono"/>
              </a:rPr>
              <a:t>WHERE Book_ID = 101;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9201150" y="5524500"/>
            <a:ext cx="7429500" cy="5786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42"/>
              </a:lnSpc>
            </a:pPr>
            <a:r>
              <a:rPr lang="en-US" sz="1875">
                <a:solidFill>
                  <a:srgbClr val="F3F0E8"/>
                </a:solidFill>
                <a:latin typeface="IBM Plex Mono"/>
                <a:ea typeface="IBM Plex Mono"/>
                <a:cs typeface="IBM Plex Mono"/>
                <a:sym typeface="IBM Plex Mono"/>
              </a:rPr>
              <a:t>SELECT Student_ID, COUNT(*) AS Books_Issued</a:t>
            </a:r>
          </a:p>
          <a:p>
            <a:pPr algn="l">
              <a:lnSpc>
                <a:spcPts val="2342"/>
              </a:lnSpc>
            </a:pPr>
            <a:r>
              <a:rPr lang="en-US" sz="1875">
                <a:solidFill>
                  <a:srgbClr val="F3F0E8"/>
                </a:solidFill>
                <a:latin typeface="IBM Plex Mono"/>
                <a:ea typeface="IBM Plex Mono"/>
                <a:cs typeface="IBM Plex Mono"/>
                <a:sym typeface="IBM Plex Mono"/>
              </a:rPr>
              <a:t>FROM Issue_Return GROUP BY Student_ID;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914400" y="8286750"/>
            <a:ext cx="15716250" cy="3838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186"/>
              </a:lnSpc>
            </a:pPr>
            <a:r>
              <a:rPr lang="en-US" sz="2550" spc="102">
                <a:solidFill>
                  <a:srgbClr val="10252E"/>
                </a:solidFill>
                <a:latin typeface="IBM Plex Mono"/>
                <a:ea typeface="IBM Plex Mono"/>
                <a:cs typeface="IBM Plex Mono"/>
                <a:sym typeface="IBM Plex Mono"/>
              </a:rPr>
              <a:t>SELECT   INSERT   UPDATE   DELETE   JOIN   GROUP BY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3F0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914400" y="497681"/>
            <a:ext cx="857250" cy="2909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50"/>
              </a:lnSpc>
            </a:pPr>
            <a:r>
              <a:rPr lang="en-US" sz="1800">
                <a:solidFill>
                  <a:srgbClr val="20D6C7"/>
                </a:solidFill>
                <a:latin typeface="IBM Plex Mono"/>
                <a:ea typeface="IBM Plex Mono"/>
                <a:cs typeface="IBM Plex Mono"/>
                <a:sym typeface="IBM Plex Mono"/>
              </a:rPr>
              <a:t>10</a:t>
            </a:r>
          </a:p>
        </p:txBody>
      </p:sp>
      <p:sp>
        <p:nvSpPr>
          <p:cNvPr name="Freeform 3" id="3"/>
          <p:cNvSpPr/>
          <p:nvPr/>
        </p:nvSpPr>
        <p:spPr>
          <a:xfrm flipH="false" flipV="false" rot="0">
            <a:off x="914400" y="771525"/>
            <a:ext cx="16459200" cy="47625"/>
          </a:xfrm>
          <a:custGeom>
            <a:avLst/>
            <a:gdLst/>
            <a:ahLst/>
            <a:cxnLst/>
            <a:rect r="r" b="b" t="t" l="l"/>
            <a:pathLst>
              <a:path h="47625" w="16459200">
                <a:moveTo>
                  <a:pt x="0" y="0"/>
                </a:moveTo>
                <a:lnTo>
                  <a:pt x="16459200" y="0"/>
                </a:lnTo>
                <a:lnTo>
                  <a:pt x="16459200" y="47625"/>
                </a:lnTo>
                <a:lnTo>
                  <a:pt x="0" y="4762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6176561" y="0"/>
            <a:ext cx="2111439" cy="2111439"/>
          </a:xfrm>
          <a:custGeom>
            <a:avLst/>
            <a:gdLst/>
            <a:ahLst/>
            <a:cxnLst/>
            <a:rect r="r" b="b" t="t" l="l"/>
            <a:pathLst>
              <a:path h="2111439" w="2111439">
                <a:moveTo>
                  <a:pt x="0" y="0"/>
                </a:moveTo>
                <a:lnTo>
                  <a:pt x="2111439" y="0"/>
                </a:lnTo>
                <a:lnTo>
                  <a:pt x="2111439" y="2111439"/>
                </a:lnTo>
                <a:lnTo>
                  <a:pt x="0" y="211143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227932" y="2154936"/>
            <a:ext cx="8366466" cy="3898874"/>
          </a:xfrm>
          <a:custGeom>
            <a:avLst/>
            <a:gdLst/>
            <a:ahLst/>
            <a:cxnLst/>
            <a:rect r="r" b="b" t="t" l="l"/>
            <a:pathLst>
              <a:path h="3898874" w="8366466">
                <a:moveTo>
                  <a:pt x="0" y="0"/>
                </a:moveTo>
                <a:lnTo>
                  <a:pt x="8366466" y="0"/>
                </a:lnTo>
                <a:lnTo>
                  <a:pt x="8366466" y="3898874"/>
                </a:lnTo>
                <a:lnTo>
                  <a:pt x="0" y="3898874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-2792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9011177" y="2266349"/>
            <a:ext cx="8362423" cy="3739239"/>
          </a:xfrm>
          <a:custGeom>
            <a:avLst/>
            <a:gdLst/>
            <a:ahLst/>
            <a:cxnLst/>
            <a:rect r="r" b="b" t="t" l="l"/>
            <a:pathLst>
              <a:path h="3739239" w="8362423">
                <a:moveTo>
                  <a:pt x="0" y="0"/>
                </a:moveTo>
                <a:lnTo>
                  <a:pt x="8362423" y="0"/>
                </a:lnTo>
                <a:lnTo>
                  <a:pt x="8362423" y="3739239"/>
                </a:lnTo>
                <a:lnTo>
                  <a:pt x="0" y="3739239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-840" r="0" b="-84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5427798" y="6315997"/>
            <a:ext cx="7764590" cy="3215225"/>
          </a:xfrm>
          <a:custGeom>
            <a:avLst/>
            <a:gdLst/>
            <a:ahLst/>
            <a:cxnLst/>
            <a:rect r="r" b="b" t="t" l="l"/>
            <a:pathLst>
              <a:path h="3215225" w="7764590">
                <a:moveTo>
                  <a:pt x="0" y="0"/>
                </a:moveTo>
                <a:lnTo>
                  <a:pt x="7764590" y="0"/>
                </a:lnTo>
                <a:lnTo>
                  <a:pt x="7764590" y="3215225"/>
                </a:lnTo>
                <a:lnTo>
                  <a:pt x="0" y="3215225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914400" y="1162050"/>
            <a:ext cx="2801898" cy="6976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202"/>
              </a:lnSpc>
            </a:pPr>
            <a:r>
              <a:rPr lang="en-US" b="true" sz="5100" spc="-178">
                <a:solidFill>
                  <a:srgbClr val="10252E"/>
                </a:solidFill>
                <a:latin typeface="Sinar Grotesk Bold"/>
                <a:ea typeface="Sinar Grotesk Bold"/>
                <a:cs typeface="Sinar Grotesk Bold"/>
                <a:sym typeface="Sinar Grotesk Bold"/>
              </a:rPr>
              <a:t>outcomes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914400" y="9734550"/>
            <a:ext cx="6667500" cy="2200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87"/>
              </a:lnSpc>
            </a:pPr>
            <a:r>
              <a:rPr lang="en-US" sz="1350" spc="108">
                <a:solidFill>
                  <a:srgbClr val="61747A"/>
                </a:solidFill>
                <a:latin typeface="IBM Plex Mono"/>
                <a:ea typeface="IBM Plex Mono"/>
                <a:cs typeface="IBM Plex Mono"/>
                <a:sym typeface="IBM Plex Mono"/>
              </a:rPr>
              <a:t>RFID × DBMS  /  LIBRARY MANAGEMENT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914400" y="5524500"/>
            <a:ext cx="7429500" cy="5786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42"/>
              </a:lnSpc>
            </a:pPr>
            <a:r>
              <a:rPr lang="en-US" sz="1875">
                <a:solidFill>
                  <a:srgbClr val="F3F0E8"/>
                </a:solidFill>
                <a:latin typeface="IBM Plex Mono"/>
                <a:ea typeface="IBM Plex Mono"/>
                <a:cs typeface="IBM Plex Mono"/>
                <a:sym typeface="IBM Plex Mono"/>
              </a:rPr>
              <a:t>SELECT * FROM Issue_Return</a:t>
            </a:r>
          </a:p>
          <a:p>
            <a:pPr algn="l">
              <a:lnSpc>
                <a:spcPts val="2342"/>
              </a:lnSpc>
            </a:pPr>
            <a:r>
              <a:rPr lang="en-US" sz="1875">
                <a:solidFill>
                  <a:srgbClr val="F3F0E8"/>
                </a:solidFill>
                <a:latin typeface="IBM Plex Mono"/>
                <a:ea typeface="IBM Plex Mono"/>
                <a:cs typeface="IBM Plex Mono"/>
                <a:sym typeface="IBM Plex Mono"/>
              </a:rPr>
              <a:t>WHERE Return_Date IS NULL;</a:t>
            </a: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3F0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914400" y="497681"/>
            <a:ext cx="857250" cy="2909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50"/>
              </a:lnSpc>
            </a:pPr>
            <a:r>
              <a:rPr lang="en-US" sz="1800">
                <a:solidFill>
                  <a:srgbClr val="20D6C7"/>
                </a:solidFill>
                <a:latin typeface="IBM Plex Mono"/>
                <a:ea typeface="IBM Plex Mono"/>
                <a:cs typeface="IBM Plex Mono"/>
                <a:sym typeface="IBM Plex Mono"/>
              </a:rPr>
              <a:t>12</a:t>
            </a:r>
          </a:p>
        </p:txBody>
      </p:sp>
      <p:sp>
        <p:nvSpPr>
          <p:cNvPr name="Freeform 3" id="3"/>
          <p:cNvSpPr/>
          <p:nvPr/>
        </p:nvSpPr>
        <p:spPr>
          <a:xfrm flipH="false" flipV="false" rot="0">
            <a:off x="914400" y="771525"/>
            <a:ext cx="16459200" cy="47625"/>
          </a:xfrm>
          <a:custGeom>
            <a:avLst/>
            <a:gdLst/>
            <a:ahLst/>
            <a:cxnLst/>
            <a:rect r="r" b="b" t="t" l="l"/>
            <a:pathLst>
              <a:path h="47625" w="16459200">
                <a:moveTo>
                  <a:pt x="0" y="0"/>
                </a:moveTo>
                <a:lnTo>
                  <a:pt x="16459200" y="0"/>
                </a:lnTo>
                <a:lnTo>
                  <a:pt x="16459200" y="47625"/>
                </a:lnTo>
                <a:lnTo>
                  <a:pt x="0" y="4762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8191500" y="2400300"/>
            <a:ext cx="8763000" cy="5934075"/>
          </a:xfrm>
          <a:custGeom>
            <a:avLst/>
            <a:gdLst/>
            <a:ahLst/>
            <a:cxnLst/>
            <a:rect r="r" b="b" t="t" l="l"/>
            <a:pathLst>
              <a:path h="5934075" w="8763000">
                <a:moveTo>
                  <a:pt x="0" y="0"/>
                </a:moveTo>
                <a:lnTo>
                  <a:pt x="8763000" y="0"/>
                </a:lnTo>
                <a:lnTo>
                  <a:pt x="8763000" y="5934075"/>
                </a:lnTo>
                <a:lnTo>
                  <a:pt x="0" y="593407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8191500" y="2400300"/>
            <a:ext cx="133350" cy="5934075"/>
          </a:xfrm>
          <a:custGeom>
            <a:avLst/>
            <a:gdLst/>
            <a:ahLst/>
            <a:cxnLst/>
            <a:rect r="r" b="b" t="t" l="l"/>
            <a:pathLst>
              <a:path h="5934075" w="133350">
                <a:moveTo>
                  <a:pt x="0" y="0"/>
                </a:moveTo>
                <a:lnTo>
                  <a:pt x="133350" y="0"/>
                </a:lnTo>
                <a:lnTo>
                  <a:pt x="133350" y="5934075"/>
                </a:lnTo>
                <a:lnTo>
                  <a:pt x="0" y="5934075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6382468" y="0"/>
            <a:ext cx="1982264" cy="1982264"/>
          </a:xfrm>
          <a:custGeom>
            <a:avLst/>
            <a:gdLst/>
            <a:ahLst/>
            <a:cxnLst/>
            <a:rect r="r" b="b" t="t" l="l"/>
            <a:pathLst>
              <a:path h="1982264" w="1982264">
                <a:moveTo>
                  <a:pt x="0" y="0"/>
                </a:moveTo>
                <a:lnTo>
                  <a:pt x="1982264" y="0"/>
                </a:lnTo>
                <a:lnTo>
                  <a:pt x="1982264" y="1982264"/>
                </a:lnTo>
                <a:lnTo>
                  <a:pt x="0" y="1982264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914400" y="1162050"/>
            <a:ext cx="13525500" cy="6404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202"/>
              </a:lnSpc>
            </a:pPr>
            <a:r>
              <a:rPr lang="en-US" b="true" sz="5100" spc="-178">
                <a:solidFill>
                  <a:srgbClr val="10252E"/>
                </a:solidFill>
                <a:latin typeface="Sinar Grotesk Bold"/>
                <a:ea typeface="Sinar Grotesk Bold"/>
                <a:cs typeface="Sinar Grotesk Bold"/>
                <a:sym typeface="Sinar Grotesk Bold"/>
              </a:rPr>
              <a:t>Future Scope &amp; Conclusion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914400" y="9734550"/>
            <a:ext cx="6667500" cy="2200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87"/>
              </a:lnSpc>
            </a:pPr>
            <a:r>
              <a:rPr lang="en-US" sz="1350" spc="108">
                <a:solidFill>
                  <a:srgbClr val="61747A"/>
                </a:solidFill>
                <a:latin typeface="IBM Plex Mono"/>
                <a:ea typeface="IBM Plex Mono"/>
                <a:cs typeface="IBM Plex Mono"/>
                <a:sym typeface="IBM Plex Mono"/>
              </a:rPr>
              <a:t>RFID × DBMS  /  LIBRARY MANAGEMENT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914400" y="3028950"/>
            <a:ext cx="3619500" cy="9886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415"/>
              </a:lnSpc>
            </a:pPr>
            <a:r>
              <a:rPr lang="en-US" b="true" sz="8250" spc="-288">
                <a:solidFill>
                  <a:srgbClr val="20D6C7"/>
                </a:solidFill>
                <a:latin typeface="Sinar Grotesk Bold"/>
                <a:ea typeface="Sinar Grotesk Bold"/>
                <a:cs typeface="Sinar Grotesk Bold"/>
                <a:sym typeface="Sinar Grotesk Bold"/>
              </a:rPr>
              <a:t>NEXT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914400" y="4038600"/>
            <a:ext cx="6477000" cy="28209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68"/>
              </a:lnSpc>
            </a:pPr>
            <a:r>
              <a:rPr lang="en-US" sz="2400">
                <a:solidFill>
                  <a:srgbClr val="10252E"/>
                </a:solidFill>
                <a:latin typeface="IBM Plex Sans"/>
                <a:ea typeface="IBM Plex Sans"/>
                <a:cs typeface="IBM Plex Sans"/>
                <a:sym typeface="IBM Plex Sans"/>
              </a:rPr>
              <a:t>Mobile integration</a:t>
            </a:r>
          </a:p>
          <a:p>
            <a:pPr algn="l">
              <a:lnSpc>
                <a:spcPts val="3168"/>
              </a:lnSpc>
            </a:pPr>
            <a:r>
              <a:rPr lang="en-US" sz="2400">
                <a:solidFill>
                  <a:srgbClr val="10252E"/>
                </a:solidFill>
                <a:latin typeface="IBM Plex Sans"/>
                <a:ea typeface="IBM Plex Sans"/>
                <a:cs typeface="IBM Plex Sans"/>
                <a:sym typeface="IBM Plex Sans"/>
              </a:rPr>
              <a:t>Self-service RFID kiosks</a:t>
            </a:r>
          </a:p>
          <a:p>
            <a:pPr algn="l">
              <a:lnSpc>
                <a:spcPts val="3168"/>
              </a:lnSpc>
            </a:pPr>
            <a:r>
              <a:rPr lang="en-US" sz="2400">
                <a:solidFill>
                  <a:srgbClr val="10252E"/>
                </a:solidFill>
                <a:latin typeface="IBM Plex Sans"/>
                <a:ea typeface="IBM Plex Sans"/>
                <a:cs typeface="IBM Plex Sans"/>
                <a:sym typeface="IBM Plex Sans"/>
              </a:rPr>
              <a:t>Entry / exit tracking</a:t>
            </a:r>
          </a:p>
          <a:p>
            <a:pPr algn="l">
              <a:lnSpc>
                <a:spcPts val="3168"/>
              </a:lnSpc>
            </a:pPr>
            <a:r>
              <a:rPr lang="en-US" sz="2400">
                <a:solidFill>
                  <a:srgbClr val="10252E"/>
                </a:solidFill>
                <a:latin typeface="IBM Plex Sans"/>
                <a:ea typeface="IBM Plex Sans"/>
                <a:cs typeface="IBM Plex Sans"/>
                <a:sym typeface="IBM Plex Sans"/>
              </a:rPr>
              <a:t>Email &amp; SMS alerts</a:t>
            </a:r>
          </a:p>
          <a:p>
            <a:pPr algn="l">
              <a:lnSpc>
                <a:spcPts val="3168"/>
              </a:lnSpc>
            </a:pPr>
            <a:r>
              <a:rPr lang="en-US" sz="2400">
                <a:solidFill>
                  <a:srgbClr val="10252E"/>
                </a:solidFill>
                <a:latin typeface="IBM Plex Sans"/>
                <a:ea typeface="IBM Plex Sans"/>
                <a:cs typeface="IBM Plex Sans"/>
                <a:sym typeface="IBM Plex Sans"/>
              </a:rPr>
              <a:t>Online reservations</a:t>
            </a:r>
          </a:p>
          <a:p>
            <a:pPr algn="l">
              <a:lnSpc>
                <a:spcPts val="3168"/>
              </a:lnSpc>
            </a:pPr>
            <a:r>
              <a:rPr lang="en-US" sz="2400">
                <a:solidFill>
                  <a:srgbClr val="10252E"/>
                </a:solidFill>
                <a:latin typeface="IBM Plex Sans"/>
                <a:ea typeface="IBM Plex Sans"/>
                <a:cs typeface="IBM Plex Sans"/>
                <a:sym typeface="IBM Plex Sans"/>
              </a:rPr>
              <a:t>Cloud database</a:t>
            </a:r>
          </a:p>
          <a:p>
            <a:pPr algn="l">
              <a:lnSpc>
                <a:spcPts val="3168"/>
              </a:lnSpc>
            </a:pPr>
            <a:r>
              <a:rPr lang="en-US" sz="2400">
                <a:solidFill>
                  <a:srgbClr val="10252E"/>
                </a:solidFill>
                <a:latin typeface="IBM Plex Sans"/>
                <a:ea typeface="IBM Plex Sans"/>
                <a:cs typeface="IBM Plex Sans"/>
                <a:sym typeface="IBM Plex Sans"/>
              </a:rPr>
              <a:t>AI recommendations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8953500" y="3164681"/>
            <a:ext cx="7334250" cy="16686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37"/>
              </a:lnSpc>
            </a:pPr>
            <a:r>
              <a:rPr lang="en-US" b="true" sz="4350" spc="-151">
                <a:solidFill>
                  <a:srgbClr val="F3F0E8"/>
                </a:solidFill>
                <a:latin typeface="Sinar Grotesk Bold"/>
                <a:ea typeface="Sinar Grotesk Bold"/>
                <a:cs typeface="Sinar Grotesk Bold"/>
                <a:sym typeface="Sinar Grotesk Bold"/>
              </a:rPr>
              <a:t>RFID + DBMS turns circulation into a connected, automated service.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8953500" y="5776912"/>
            <a:ext cx="6667500" cy="11134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70"/>
              </a:lnSpc>
            </a:pPr>
            <a:r>
              <a:rPr lang="en-US" sz="2250">
                <a:solidFill>
                  <a:srgbClr val="DCE8E5"/>
                </a:solidFill>
                <a:latin typeface="IBM Plex Sans"/>
                <a:ea typeface="IBM Plex Sans"/>
                <a:cs typeface="IBM Plex Sans"/>
                <a:sym typeface="IBM Plex Sans"/>
              </a:rPr>
              <a:t>The system improves accuracy and efficiency, reduces manual effort, and creates one dependable view of books, members, and transactions.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DAHTXFcY1EM</dc:identifier>
  <dcterms:modified xsi:type="dcterms:W3CDTF">2011-08-01T06:04:30Z</dcterms:modified>
  <cp:revision>1</cp:revision>
  <dc:title>BATCH20 TEAM MEMBERS JASWANTH REDDY - 2520080025 SIDDHA.pptx</dc:title>
</cp:coreProperties>
</file>